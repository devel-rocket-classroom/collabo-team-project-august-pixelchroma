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c911d90a5d44d8" /><Relationship Type="http://schemas.openxmlformats.org/officeDocument/2006/relationships/extended-properties" Target="/docProps/app.xml" Id="Rfbef06ad5c8b44a5" /><Relationship Type="http://schemas.openxmlformats.org/officeDocument/2006/relationships/officeDocument" Target="/ppt/presentation.xml" Id="Rc9ea43a8156246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eca93e4f104a01"/>
  </p:sldMasterIdLst>
  <p:notesMasterIdLst>
    <p:notesMasterId xmlns:r="http://schemas.openxmlformats.org/officeDocument/2006/relationships" r:id="Rbe892b1108254c8e"/>
  </p:notesMasterIdLst>
  <p:sldIdLst>
    <p:sldId xmlns:r="http://schemas.openxmlformats.org/officeDocument/2006/relationships" id="256" r:id="R76764ecc94a34972"/>
    <p:sldId xmlns:r="http://schemas.openxmlformats.org/officeDocument/2006/relationships" id="257" r:id="Rbedcaddd94374bfd"/>
    <p:sldId xmlns:r="http://schemas.openxmlformats.org/officeDocument/2006/relationships" id="258" r:id="R03634d2edf6446c2"/>
    <p:sldId xmlns:r="http://schemas.openxmlformats.org/officeDocument/2006/relationships" id="259" r:id="R6650c9c5b3fa4664"/>
    <p:sldId xmlns:r="http://schemas.openxmlformats.org/officeDocument/2006/relationships" id="260" r:id="Rb3649e19d46b4b85"/>
    <p:sldId xmlns:r="http://schemas.openxmlformats.org/officeDocument/2006/relationships" id="261" r:id="R113430bb17364e14"/>
    <p:sldId xmlns:r="http://schemas.openxmlformats.org/officeDocument/2006/relationships" id="262" r:id="Rdc9c8f756f7b4ae6"/>
    <p:sldId xmlns:r="http://schemas.openxmlformats.org/officeDocument/2006/relationships" id="263" r:id="R0df12b88ce0b42aa"/>
    <p:sldId xmlns:r="http://schemas.openxmlformats.org/officeDocument/2006/relationships" id="264" r:id="R6d8ad131d3c14e27"/>
    <p:sldId xmlns:r="http://schemas.openxmlformats.org/officeDocument/2006/relationships" id="265" r:id="Rca195637eab94c57"/>
    <p:sldId xmlns:r="http://schemas.openxmlformats.org/officeDocument/2006/relationships" id="266" r:id="R2e7a29996cad48f5"/>
    <p:sldId xmlns:r="http://schemas.openxmlformats.org/officeDocument/2006/relationships" id="267" r:id="Ra5a2fc2e7ff24ee9"/>
    <p:sldId xmlns:r="http://schemas.openxmlformats.org/officeDocument/2006/relationships" id="268" r:id="R66f8a727dd2e4d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87ef35bfff4f3e" /><Relationship Type="http://schemas.openxmlformats.org/officeDocument/2006/relationships/slideMaster" Target="/ppt/slideMasters/slideMaster1.xml" Id="Rd2eca93e4f104a01" /><Relationship Type="http://schemas.openxmlformats.org/officeDocument/2006/relationships/notesMaster" Target="/ppt/notesMasters/notesMaster1.xml" Id="Rbe892b1108254c8e" /><Relationship Type="http://schemas.openxmlformats.org/officeDocument/2006/relationships/presProps" Target="/ppt/presProps.xml" Id="Re6b40d08a9fd4990" /><Relationship Type="http://schemas.openxmlformats.org/officeDocument/2006/relationships/tableStyles" Target="/ppt/tableStyles.xml" Id="Ra269189d30114c6e" /><Relationship Type="http://schemas.openxmlformats.org/officeDocument/2006/relationships/slide" Target="/ppt/slides/slide1.xml" Id="R76764ecc94a34972" /><Relationship Type="http://schemas.openxmlformats.org/officeDocument/2006/relationships/slide" Target="/ppt/slides/slide2.xml" Id="Rbedcaddd94374bfd" /><Relationship Type="http://schemas.openxmlformats.org/officeDocument/2006/relationships/slide" Target="/ppt/slides/slide3.xml" Id="R03634d2edf6446c2" /><Relationship Type="http://schemas.openxmlformats.org/officeDocument/2006/relationships/slide" Target="/ppt/slides/slide4.xml" Id="R6650c9c5b3fa4664" /><Relationship Type="http://schemas.openxmlformats.org/officeDocument/2006/relationships/slide" Target="/ppt/slides/slide5.xml" Id="Rb3649e19d46b4b85" /><Relationship Type="http://schemas.openxmlformats.org/officeDocument/2006/relationships/slide" Target="/ppt/slides/slide6.xml" Id="R113430bb17364e14" /><Relationship Type="http://schemas.openxmlformats.org/officeDocument/2006/relationships/slide" Target="/ppt/slides/slide7.xml" Id="Rdc9c8f756f7b4ae6" /><Relationship Type="http://schemas.openxmlformats.org/officeDocument/2006/relationships/slide" Target="/ppt/slides/slide8.xml" Id="R0df12b88ce0b42aa" /><Relationship Type="http://schemas.openxmlformats.org/officeDocument/2006/relationships/slide" Target="/ppt/slides/slide9.xml" Id="R6d8ad131d3c14e27" /><Relationship Type="http://schemas.openxmlformats.org/officeDocument/2006/relationships/slide" Target="/ppt/slides/slide10.xml" Id="Rca195637eab94c57" /><Relationship Type="http://schemas.openxmlformats.org/officeDocument/2006/relationships/slide" Target="/ppt/slides/slide11.xml" Id="R2e7a29996cad48f5" /><Relationship Type="http://schemas.openxmlformats.org/officeDocument/2006/relationships/slide" Target="/ppt/slides/slide12.xml" Id="Ra5a2fc2e7ff24ee9" /><Relationship Type="http://schemas.openxmlformats.org/officeDocument/2006/relationships/slide" Target="/ppt/slides/slide13.xml" Id="R66f8a727dd2e4d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0a9e0009c648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98242950f04869" /><Relationship Type="http://schemas.openxmlformats.org/officeDocument/2006/relationships/notesMaster" Target="/ppt/notesMasters/notesMaster1.xml" Id="R4fcd49860fe741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e189402a4e4842" /><Relationship Type="http://schemas.openxmlformats.org/officeDocument/2006/relationships/notesMaster" Target="/ppt/notesMasters/notesMaster1.xml" Id="R0f205407d9af45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2046442d6540b3" /><Relationship Type="http://schemas.openxmlformats.org/officeDocument/2006/relationships/notesMaster" Target="/ppt/notesMasters/notesMaster1.xml" Id="R7a51790e282949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a5dbd69a644f55" /><Relationship Type="http://schemas.openxmlformats.org/officeDocument/2006/relationships/notesMaster" Target="/ppt/notesMasters/notesMaster1.xml" Id="Ra37393de559548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3cc16eb57846a5" /><Relationship Type="http://schemas.openxmlformats.org/officeDocument/2006/relationships/notesMaster" Target="/ppt/notesMasters/notesMaster1.xml" Id="Rc0fa81b5b86144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20e92bf06d424b" /><Relationship Type="http://schemas.openxmlformats.org/officeDocument/2006/relationships/notesMaster" Target="/ppt/notesMasters/notesMaster1.xml" Id="Rf5ddedb0c81046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baf19bc0d04c4c" /><Relationship Type="http://schemas.openxmlformats.org/officeDocument/2006/relationships/notesMaster" Target="/ppt/notesMasters/notesMaster1.xml" Id="Rbd336c5b937a49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0fad8856ed460d" /><Relationship Type="http://schemas.openxmlformats.org/officeDocument/2006/relationships/notesMaster" Target="/ppt/notesMasters/notesMaster1.xml" Id="Rc98c35e592a04e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cc9a52b3ef4c15" /><Relationship Type="http://schemas.openxmlformats.org/officeDocument/2006/relationships/notesMaster" Target="/ppt/notesMasters/notesMaster1.xml" Id="Rf1293ec379c8496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7c2535534048dc" /><Relationship Type="http://schemas.openxmlformats.org/officeDocument/2006/relationships/notesMaster" Target="/ppt/notesMasters/notesMaster1.xml" Id="R42c44899a6044c3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ed15e3231f4d07" /><Relationship Type="http://schemas.openxmlformats.org/officeDocument/2006/relationships/notesMaster" Target="/ppt/notesMasters/notesMaster1.xml" Id="Rbac84c9f4709469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d566a919f8444ec" /><Relationship Type="http://schemas.openxmlformats.org/officeDocument/2006/relationships/notesMaster" Target="/ppt/notesMasters/notesMaster1.xml" Id="Ra0c0504c04be45e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6e8e7e6e7454692" /><Relationship Type="http://schemas.openxmlformats.org/officeDocument/2006/relationships/notesMaster" Target="/ppt/notesMasters/notesMaster1.xml" Id="R7f006669064c42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원문 제목: PixelChroma 추가 작업 보고. 기술 환경: Unity 6000.3.10f1, 5×6 Grid, Portrait/Mobile.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목차: 04 카메라 연출, 05 적 이동 연출, 06 부대와 스프라이트, 07 승리와 패배.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카메라 연출 섹션 구분 슬라이드. 원문 Claude artifact의 내용을 새 레이아웃으로 재구성.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SmoothStep 보간으로 카메라 위치와 FOV를 함께 변경한다. 핵심 값은 38도, 0.35초, follow damping 8f.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2.5D 탑뷰에서 카메라와 건물이 닿아 유닛을 가리는 문제를 충돌 감지와 머티리얼 알파 조절로 해결한다.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적 이동 연출 섹션 구분 슬라이드. 원문 Claude artifact의 내용을 새 레이아웃으로 재구성.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A* 경로를 굵은 붉은 선과 삼각형 화살촉으로 시각화한다. 우회전과 좌회전 코너는 Quadratic Bezier로 완화한다.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적 유닛별로 카메라 포커스, 경로 표시, 이동, 공격, 카메라 복원을 순서대로 실행한다.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부대 &amp; 스프라이트 섹션 구분 슬라이드. 원문 Claude artifact의 내용을 새 레이아웃으로 재구성.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EnemySquadData ScriptableObject로 적 구성과 수를 정의한다. 전투 스프라이트는 데이터에서 fallback까지 단계적으로 선택한다.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승리 · 패배 섹션 구분 슬라이드. 원문 Claude artifact의 내용을 새 레이아웃으로 재구성.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공격 후 CheckBattleEnd가 생존 유닛을 확인한다. 승리 시 다음 스테이지를 해금하고, 패배 시 해금하지 않는다. yield break로 후속 행동을 중단한다.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원칙은 전투 상태와 의도를 플레이어가 볼 수 있게 만드는 것이다. 주요 파일: Grid/CameraController.cs, UI/PathArrowRenderer.cs, GamePlay/Unit.cs, Editor/EnemySpriteLinker.cs, SOdata/Enemy/Squads/*.asset.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772a3d43ef4a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f4fe17a79447d6" /><Relationship Type="http://schemas.openxmlformats.org/officeDocument/2006/relationships/slideLayout" Target="/ppt/slideLayouts/slideLayout1.xml" Id="R2a9db4cc8d3f44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9db4cc8d3f44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c135c74e54853" /><Relationship Type="http://schemas.openxmlformats.org/officeDocument/2006/relationships/image" Target="/ppt/media/image.png" Id="Raf4562aeb28848a9" /><Relationship Type="http://schemas.openxmlformats.org/officeDocument/2006/relationships/image" Target="/ppt/media/image2.png" Id="R376385dbed3e42e3" /><Relationship Type="http://schemas.openxmlformats.org/officeDocument/2006/relationships/notesSlide" Target="/ppt/notesSlides/notesSlide1.xml" Id="R0ad29c820fe942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f9b1adeaf48a9" /><Relationship Type="http://schemas.openxmlformats.org/officeDocument/2006/relationships/notesSlide" Target="/ppt/notesSlides/notesSlide2.xml" Id="Ra492393ee60542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c89d305a448dc" /><Relationship Type="http://schemas.openxmlformats.org/officeDocument/2006/relationships/image" Target="/ppt/media/image3.png" Id="R858544f487e54e26" /><Relationship Type="http://schemas.openxmlformats.org/officeDocument/2006/relationships/notesSlide" Target="/ppt/notesSlides/notesSlide3.xml" Id="Rcf2f0ba5402343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03e0f358d43b2" /><Relationship Type="http://schemas.openxmlformats.org/officeDocument/2006/relationships/notesSlide" Target="/ppt/notesSlides/notesSlide4.xml" Id="R1fd893f04de64e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73f9f31cf41b7" /><Relationship Type="http://schemas.openxmlformats.org/officeDocument/2006/relationships/notesSlide" Target="/ppt/notesSlides/notesSlide5.xml" Id="Rf8021a26f7a043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4018d0b014fd3" /><Relationship Type="http://schemas.openxmlformats.org/officeDocument/2006/relationships/image" Target="/ppt/media/image4.png" Id="R07597312bed0427d" /><Relationship Type="http://schemas.openxmlformats.org/officeDocument/2006/relationships/notesSlide" Target="/ppt/notesSlides/notesSlide6.xml" Id="R71f98b93d6b941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fc14b8e49a45c6" /><Relationship Type="http://schemas.openxmlformats.org/officeDocument/2006/relationships/notesSlide" Target="/ppt/notesSlides/notesSlide7.xml" Id="R36a0c8855b654f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63238e33a4889" /><Relationship Type="http://schemas.openxmlformats.org/officeDocument/2006/relationships/notesSlide" Target="/ppt/notesSlides/notesSlide8.xml" Id="Rafb49d2ee39640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dc0b4d17349bc" /><Relationship Type="http://schemas.openxmlformats.org/officeDocument/2006/relationships/image" Target="/ppt/media/image5.png" Id="R0b05317b2ec74604" /><Relationship Type="http://schemas.openxmlformats.org/officeDocument/2006/relationships/notesSlide" Target="/ppt/notesSlides/notesSlide9.xml" Id="Rdb269b6eb6a94a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c7fd5c0b54bb7" /><Relationship Type="http://schemas.openxmlformats.org/officeDocument/2006/relationships/image" Target="/ppt/media/image6.png" Id="R370ae7063c70409a" /><Relationship Type="http://schemas.openxmlformats.org/officeDocument/2006/relationships/image" Target="/ppt/media/image7.png" Id="R0093fc7df03d40b3" /><Relationship Type="http://schemas.openxmlformats.org/officeDocument/2006/relationships/notesSlide" Target="/ppt/notesSlides/notesSlide10.xml" Id="R3a10d182a7b340e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4ff2af614428d" /><Relationship Type="http://schemas.openxmlformats.org/officeDocument/2006/relationships/image" Target="/ppt/media/image8.png" Id="R617dd1aa275d4c12" /><Relationship Type="http://schemas.openxmlformats.org/officeDocument/2006/relationships/notesSlide" Target="/ppt/notesSlides/notesSlide11.xml" Id="Rf9551b7f9b274a8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f09a12e9b4931" /><Relationship Type="http://schemas.openxmlformats.org/officeDocument/2006/relationships/notesSlide" Target="/ppt/notesSlides/notesSlide12.xml" Id="R7f4c7404286a4b7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4a4f00b4d4a44" /><Relationship Type="http://schemas.openxmlformats.org/officeDocument/2006/relationships/notesSlide" Target="/ppt/notesSlides/notesSlide13.xml" Id="R92704b7b906e47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E892BB-5B62-4BF4-A891-7874303F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111F"/>
              </a:gs>
              <a:gs pos="55000">
                <a:srgbClr val="14213A"/>
              </a:gs>
              <a:gs pos="100000">
                <a:srgbClr val="241332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CF0C76-18EC-47EF-9A16-EAD83D2E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85725" cy="481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270E8A-4955-4A16-AED8-9B48A11F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239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rPr>
              <a:t>UNITY 6 · GRID TACTICS · TECH REPORT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011FEC4-6A54-4782-AF45-0FF14866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14450"/>
            <a:ext cx="6572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PixelChroma</a:t>
            </a:r>
          </a:p>
          <a:p xmlns:a="http://schemas.openxmlformats.org/drawingml/2006/main">
            <a:pPr>
              <a:defRPr sz="4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추가 작업 보고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FED8B-6BE8-4153-9E78-3CEAC283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432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카메라 연출 · 적 이동 시퀀스 · 부대 스프라이트 · 승리/패배 판정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5F6966-2ED8-4C5E-9575-255DCECE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67200"/>
            <a:ext cx="2038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1E0E3-24C3-46E6-BDDC-B50C5CE4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14825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8111F"/>
                </a:solidFill>
                <a:latin typeface="Malgun Gothic"/>
                <a:ea typeface="Malgun Gothic"/>
                <a:cs typeface="Malgun Gothic"/>
              </a:rPr>
              <a:t>UNITY 6000.3.10f1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4E1692-96A6-4DBD-B01A-4892E428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67200"/>
            <a:ext cx="13811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4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C492FC-4EEC-4F5B-A7DA-AAF8DFF4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314825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8111F"/>
                </a:solidFill>
                <a:latin typeface="Malgun Gothic"/>
                <a:ea typeface="Malgun Gothic"/>
                <a:cs typeface="Malgun Gothic"/>
              </a:rPr>
              <a:t>5 × 6 GRID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80B374-0C8C-4C42-91A2-24D9BC2F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26720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C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B20FF0-3347-4299-88ED-73E542D8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3148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8111F"/>
                </a:solidFill>
                <a:latin typeface="Malgun Gothic"/>
                <a:ea typeface="Malgun Gothic"/>
                <a:cs typeface="Malgun Gothic"/>
              </a:rPr>
              <a:t>PORTRAIT / MOBILE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305B7E-F564-4926-B9A8-58EBA407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2026.09.11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4562aeb28848a9"/>
          <a:stretch xmlns:a="http://schemas.openxmlformats.org/drawingml/2006/main"/>
        </p:blipFill>
        <p:spPr>
          <a:xfrm xmlns:a="http://schemas.openxmlformats.org/drawingml/2006/main">
            <a:off x="7200900" y="1665830"/>
            <a:ext cx="3714750" cy="3859716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6385dbed3e42e3"/>
          <a:stretch xmlns:a="http://schemas.openxmlformats.org/drawingml/2006/main"/>
        </p:blipFill>
        <p:spPr>
          <a:xfrm xmlns:a="http://schemas.openxmlformats.org/drawingml/2006/main">
            <a:off x="9544050" y="4006146"/>
            <a:ext cx="2095500" cy="132220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7225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5DFA77-1469-4CF9-93B2-24AD9967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E7CC80-38E4-4D33-882B-20F5470D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PIXELCHROMA  /  CONTENTS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8B0FE4-E6C3-4D15-AFD4-E72CD7E5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70D95-FE6D-48BE-B46E-3BB01BA4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277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756FE8-A448-421E-BDDA-A09E045E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rPr>
              <a:t>OVERVIEW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26FABB2-4BDE-40F2-A2C1-6213D454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네 가지 작업이 하나의 전투 흐름을 만든다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7D6634-88F0-444A-A0CB-C30BA125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7875"/>
            <a:ext cx="523875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7709D2-B1F2-4417-A66D-2DAB8D04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7875"/>
            <a:ext cx="57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A7DD83-EF76-499C-B746-05BC0067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027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B0F1C3-CBC6-4A89-BE28-85A094FB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1932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카메라 연출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FD8B72-6168-40EA-9197-6DB8BF58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76525"/>
            <a:ext cx="4781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포커스 줌 · 건물 페이드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07B100-35FC-4AA2-BE40-18AEFE55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47875"/>
            <a:ext cx="523875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23DA39-62D2-4CAC-B5D8-CFF9640B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47875"/>
            <a:ext cx="57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4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6AB525-8BEE-488B-97FA-98DA9593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027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BFD544-631A-435B-BEB4-9A7F6771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1932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적 이동 연출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D2FC60-0E8D-4B21-8E66-619657BA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76525"/>
            <a:ext cx="4781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경로 화살표 · 타일 이동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E09AC9-EBE2-4A06-A4E7-75CFE937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523875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ADD5AC-490B-4E49-A347-13CBF1CC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57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185D1E-954F-4AC7-B49D-754FB182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A78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9A78FF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D7AF02-F687-472A-9EC2-0EDFD7BA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719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부대 &amp; 스프라이트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C2B1F2-2A64-4277-B346-6222C709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4781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SO 기반 유닛 비주얼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0451FD-C2BF-4D7D-8D69-09A2DDF4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00500"/>
            <a:ext cx="523875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3E8609-7505-40A0-8B29-642B2EA0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00500"/>
            <a:ext cx="57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C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179236-46FF-4575-A42E-C273E100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529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9C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9C4A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73DB8C-AEFE-4693-915B-B3D8066E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719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승리 · 패배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984074-E79F-448E-B4A6-3D678686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29150"/>
            <a:ext cx="4781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배틀 결과 시퀀스</a:t>
            </a:r>
          </a:p>
        </p:txBody>
      </p:sp>
    </p:spTree>
    <p:extLst>
      <p:ext uri="{BB962C8B-B14F-4D97-AF65-F5344CB8AC3E}">
        <p14:creationId xmlns:p14="http://schemas.microsoft.com/office/powerpoint/2010/main" val="8116340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C6F8B6-3B30-4F1E-9F54-C051141B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111F"/>
              </a:gs>
              <a:gs pos="100000">
                <a:srgbClr val="17263A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3EDCB-2082-4DBE-BC20-6DF45EFE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5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BD1DEC-7B95-43DE-85A3-41A9AC84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668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rPr>
              <a:t>PART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F5AE5-89C5-4F5F-97AD-3107237A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카메라 연출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4D029-39B3-4709-A951-1A3C783D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590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포커스 줌 · 건물 페이드 · 추적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D17D7D-7064-45C6-94B6-F5255D53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25717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7D2302-30ED-4DF7-B72F-38A665F0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005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rPr>
              <a:t>PIXELCHROMA TECH REPORT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8544f487e54e26"/>
          <a:stretch xmlns:a="http://schemas.openxmlformats.org/drawingml/2006/main"/>
        </p:blipFill>
        <p:spPr>
          <a:xfrm xmlns:a="http://schemas.openxmlformats.org/drawingml/2006/main">
            <a:off x="7620000" y="1900063"/>
            <a:ext cx="3714750" cy="32674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7647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CE5000-D3C1-4C18-9132-82428374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3E2764-C3F9-402F-A759-86C036E0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PIXELCHROMA  /  CAMERA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9465B0-D3EF-44FA-8015-0AEF6363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A88309-2181-46C6-82CC-91583DA7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277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262723-5AEA-4272-ACB1-F3860ECB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rPr>
              <a:t>CAMERACONTROLLER.FOCUSON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82000EC-7B7A-46DF-86BF-59DCB2D8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턴 전환마다 유닛을 줌인한다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10B656-6E01-43DA-8DB0-5A9777A8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57375"/>
            <a:ext cx="6057900" cy="4171950"/>
          </a:xfrm>
          <a:prstGeom xmlns:a="http://schemas.openxmlformats.org/drawingml/2006/main" prst="roundRect">
            <a:avLst>
              <a:gd name="adj" fmla="val 3196"/>
            </a:avLst>
          </a:prstGeom>
          <a:solidFill xmlns:a="http://schemas.openxmlformats.org/drawingml/2006/main">
            <a:srgbClr val="07101B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22649E-2BF1-4F43-ABC1-1E1A5B1E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57375"/>
            <a:ext cx="6057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66556A-6B7B-4658-AE31-571217EE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56769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public void FocusOn(Vector3 worldPosition)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Vector3 offset = cam.transform.position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  - GetCurrentGroundFocus();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focusTargetPos = worldPosition + offset;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focusTargetPos.y = cam.transform.position.y;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focusStartPos = cam.transform.position;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focusStartFOV = cam.fieldOfView;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targetFOV = focusZoomFOV; // 38°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focusLerp = 0f;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isFocusing = true;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float t = Mathf.SmoothStep(0f, 1f, focusLerp);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cam.transform.position = Vector3.Lerp(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focusStartPos, focusTargetPos, t);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cam.fieldOfView = Mathf.Lerp(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focusStartFOV, targetFOV, t);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5D393B-AB4A-4010-9B70-353EC114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57375"/>
            <a:ext cx="45720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64CD22-7E6B-4FA0-A081-81576108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57375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E567D7-7939-4E75-B5F1-85A070A8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28825"/>
            <a:ext cx="411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FocusOnAndWait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7CAE4D-6A9B-4406-BACE-F9A76CEA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86025"/>
            <a:ext cx="411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283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각 적 행동 전에 코루틴으로 카메라 이동이 끝날 때까지 기다린다.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B56232-EAAD-4248-95E3-53EED319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09925"/>
            <a:ext cx="45720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4E5AA8-8E8D-4346-93CC-2BEFCEE4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09925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E2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838D0A-2D9F-43B9-9D42-E407592A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81375"/>
            <a:ext cx="411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ResetFocus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277D59-4399-4F91-AFCC-6A051E43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38575"/>
            <a:ext cx="411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603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모든 적 행동이 끝나면 위치와 FOV를 원래 상태로 복원한다.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21A480-19F4-4320-82BE-25253EF7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57725"/>
            <a:ext cx="1381125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63A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F40799-0231-4F71-A6E7-A08EEEE2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00600"/>
            <a:ext cx="11525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rPr>
              <a:t>38°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D0AFB1-CDB1-4DDF-83FE-2A93348D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238750"/>
            <a:ext cx="1190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056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ZOOM FOV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6C9B48-A731-4736-8533-EEC21D5D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57725"/>
            <a:ext cx="1381125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63A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FE6E8B-77D2-4770-A428-C79410AC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00600"/>
            <a:ext cx="11525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rPr>
              <a:t>0.35s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0F772D-47FF-40EB-AFC3-9C29C3FD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238750"/>
            <a:ext cx="1190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056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TRANSITION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567C60-A7FC-4987-B88A-C0C25505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657725"/>
            <a:ext cx="1381125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63A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F95885-A272-40FC-997E-BA1DE676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00600"/>
            <a:ext cx="11525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9C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9C4A"/>
                </a:solidFill>
                <a:latin typeface="Malgun Gothic"/>
                <a:ea typeface="Malgun Gothic"/>
                <a:cs typeface="Malgun Gothic"/>
              </a:rPr>
              <a:t>8f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A5363C-4234-4598-9196-97235F1E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238750"/>
            <a:ext cx="1190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056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FOLLOW DAMPING</a:t>
            </a:r>
          </a:p>
        </p:txBody>
      </p:sp>
    </p:spTree>
    <p:extLst>
      <p:ext uri="{BB962C8B-B14F-4D97-AF65-F5344CB8AC3E}">
        <p14:creationId xmlns:p14="http://schemas.microsoft.com/office/powerpoint/2010/main" val="16984796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32CAAD-4BBD-45DE-A688-1816B386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9B4F76-B55F-4A7B-AA0F-BB99E29B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PIXELCHROMA  /  CAMERA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C9FBC9-C07C-45B8-9230-59B0DE03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96AB5-6B3B-41AA-94F0-0FB59DE3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277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0BC9FB-2D15-42EB-8875-789197DA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rPr>
              <a:t>BUILDING FADE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E6909F4-181F-4F4A-85E8-36319623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카메라에 닿는 건물은 투명해진다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AD0BCB-8713-433B-90D0-9CAD8D6B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4762500" cy="2619375"/>
          </a:xfrm>
          <a:prstGeom xmlns:a="http://schemas.openxmlformats.org/drawingml/2006/main" prst="roundRect">
            <a:avLst>
              <a:gd name="adj" fmla="val 5091"/>
            </a:avLst>
          </a:prstGeom>
          <a:solidFill xmlns:a="http://schemas.openxmlformats.org/drawingml/2006/main">
            <a:srgbClr val="07101B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CB6412-633E-4300-B9EA-6962F41E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476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3808A9-CCA3-4B31-999B-231F5A6A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4381500" cy="2295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int hitCount = Physics.OverlapSphereNonAlloc(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transform.position,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buildingContactRadius, // 0.75f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buildingContactBuffer,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buildingContactMask);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float targetAlpha = touching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? buildingFadeAlpha : 1f;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pair.Value.MoveTowards(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targetAlpha, fadeSpeed * Time.deltaTime);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3DFF4B-D07D-4B9A-90CF-557C09DB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09750"/>
            <a:ext cx="1762125" cy="2619375"/>
          </a:xfrm>
          <a:prstGeom xmlns:a="http://schemas.openxmlformats.org/drawingml/2006/main" prst="roundRect">
            <a:avLst>
              <a:gd name="adj" fmla="val 9730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123E5F-7227-4068-A5EB-83B8358F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09750"/>
            <a:ext cx="5715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7473DC-F66E-4054-92CA-F07DB95A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9621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F74477-07A4-4EE6-AF44-0183A50F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81200"/>
            <a:ext cx="809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감지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C9A12D-B7CA-4459-8820-E7ABFF90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38400"/>
            <a:ext cx="1304925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OverlapSphereNonAlloc</a:t>
            </a:r>
          </a:p>
          <a:p xmlns:a="http://schemas.openxmlformats.org/drawingml/2006/main">
            <a:pPr>
              <a:def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버퍼 64 · No-GC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6DC0D6-21CB-480A-9683-6ACD3E44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809750"/>
            <a:ext cx="1762125" cy="2619375"/>
          </a:xfrm>
          <a:prstGeom xmlns:a="http://schemas.openxmlformats.org/drawingml/2006/main" prst="roundRect">
            <a:avLst>
              <a:gd name="adj" fmla="val 9730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825C15-3712-4A4E-A2AD-FDD78988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809750"/>
            <a:ext cx="5715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4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1F73FF-9182-46EF-B1F6-6A123077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9621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D98DAC-22B1-46D3-8778-959BD65E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981200"/>
            <a:ext cx="809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60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머티리얼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BEF45A-D2B6-49F4-9AA3-D5E04FA8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438400"/>
            <a:ext cx="1304925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Renderer 머티리얼 복제</a:t>
            </a:r>
          </a:p>
          <a:p xmlns:a="http://schemas.openxmlformats.org/drawingml/2006/main">
            <a:pPr>
              <a:def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_BaseColor 알파 조절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9AAB42-1DF7-4426-A4AD-65C64E53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09750"/>
            <a:ext cx="1762125" cy="2619375"/>
          </a:xfrm>
          <a:prstGeom xmlns:a="http://schemas.openxmlformats.org/drawingml/2006/main" prst="roundRect">
            <a:avLst>
              <a:gd name="adj" fmla="val 9730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19BB39-AA74-4271-A69E-DB4912CA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09750"/>
            <a:ext cx="5715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E2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BA0691-20B3-4EA8-ADC6-883E61F9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9621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8E2A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58E2A3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55EFA1-8734-47AF-8C9C-10892AE7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981200"/>
            <a:ext cx="809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복원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0EDC1F-55BB-4C59-8032-FB06FD39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38400"/>
            <a:ext cx="1304925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alpha=1에서 원본 복구</a:t>
            </a:r>
          </a:p>
          <a:p xmlns:a="http://schemas.openxmlformats.org/drawingml/2006/main">
            <a:pPr>
              <a:def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복제 인스턴스 Destroy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BCD638-AD2A-4540-A76F-087D2D21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10925175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7BF616-0FB2-47CF-8E1D-887AEFA2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9C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9C4A"/>
                </a:solidFill>
                <a:latin typeface="Malgun Gothic"/>
                <a:ea typeface="Malgun Gothic"/>
                <a:cs typeface="Malgun Gothic"/>
              </a:rPr>
              <a:t>URP TRANSPARENT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C0FE80-A8DA-4EB2-896F-05A5B85B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_Surface=1   ·   SrcAlpha / OneMinusSrcAlpha   ·   _ZWrite=0   ·   RenderQueue=Transparent   ·   Outline OFF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16B7B9-3E5E-46B4-AF16-515F8655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건물 루트 탐색: building / apartment / skyscraper · city_all / background_에서 중단 · LateUpdate 실행</a:t>
            </a:r>
          </a:p>
        </p:txBody>
      </p:sp>
    </p:spTree>
    <p:extLst>
      <p:ext uri="{BB962C8B-B14F-4D97-AF65-F5344CB8AC3E}">
        <p14:creationId xmlns:p14="http://schemas.microsoft.com/office/powerpoint/2010/main" val="12823859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B9C14E-52E7-45A9-9D99-E62F1C32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111F"/>
              </a:gs>
              <a:gs pos="100000">
                <a:srgbClr val="17263A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006DA7-0DA4-4160-BFBC-27DC23E6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5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4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CF915F-20B1-4A0A-A2BB-1D02C263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668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rPr>
              <a:t>PART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6E039-C1A5-438E-9C79-A0BBC82D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적 이동 연출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A57CD3-9538-48FC-8D78-DB198FAE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590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경로 화살표 · Bezier 곡선 · 타일 이동 애니메이션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7079E1-FDFE-461A-BEE7-930F0E48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25717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04BDE8-7E92-4652-B5CB-F43866A9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005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rPr>
              <a:t>PIXELCHROMA TECH REPORT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597312bed0427d"/>
          <a:stretch xmlns:a="http://schemas.openxmlformats.org/drawingml/2006/main"/>
        </p:blipFill>
        <p:spPr>
          <a:xfrm xmlns:a="http://schemas.openxmlformats.org/drawingml/2006/main">
            <a:off x="7776439" y="819150"/>
            <a:ext cx="3401872" cy="542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9865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65AEEC-F4BE-4876-9D44-F626A5EA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4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C28E62-6514-4D9A-8CF1-11636D19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PIXELCHROMA  /  ENEMY MOVE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F06D97-E577-4998-886A-B19B24DA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AEAE4D-8C9C-4332-9704-F76976D1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277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780D9B-D392-4087-A516-E0A311E7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rPr>
              <a:t>PATHARROWRENDERER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DD11FE2-60D9-452D-B475-FB64E667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경로를 화살표로 그린다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006BC8-67CA-45A7-AE6C-83888936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5810250" cy="3476625"/>
          </a:xfrm>
          <a:prstGeom xmlns:a="http://schemas.openxmlformats.org/drawingml/2006/main" prst="roundRect">
            <a:avLst>
              <a:gd name="adj" fmla="val 3836"/>
            </a:avLst>
          </a:prstGeom>
          <a:solidFill xmlns:a="http://schemas.openxmlformats.org/drawingml/2006/main">
            <a:srgbClr val="07101B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77A0AB-A856-4A87-82DC-64B3D09C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581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4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D409C5-4A1D-49B6-A2D7-DB6868DA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5429250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float dot = Vector3.Dot(dirIn, dirOut);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if (dot &gt; 0.99f) {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result.Add(curr);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continue;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Vector3 curveStart = curr - dirIn * radius;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Vector3 curveEnd = curr + dirOut * radius;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for (int s = 0; s &lt;= CurveSegments; s++) {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float t = (float)s / CurveSegments;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Vector3 a = Vector3.Lerp(curveStart, curr, t);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Vector3 b = Vector3.Lerp(curr, curveEnd, t);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result.Add(Vector3.Lerp(a, b, t));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2DD50E-A10B-43F5-A08C-64EF226A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직각 코너를 Quadratic Bezier로 부드럽게 연결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6762750" y="1809750"/>
          <a:ext xmlns:a="http://schemas.openxmlformats.org/drawingml/2006/main" cx="4743450" cy="2952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581150"/>
                <a:gridCol w="1581150"/>
                <a:gridCol w="1581150"/>
              </a:tblGrid>
              <a:tr h="4921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8111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상수</a:t>
                      </a:r>
                    </a:p>
                  </a:txBody>
                  <a:tcPr marL="91440" marR="91440" marT="45720" marB="45720">
                    <a:solidFill>
                      <a:srgbClr val="F64D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8111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값</a:t>
                      </a:r>
                    </a:p>
                  </a:txBody>
                  <a:tcPr marL="91440" marR="91440" marT="45720" marB="45720">
                    <a:solidFill>
                      <a:srgbClr val="F64D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8111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91440" marR="91440" marT="45720" marB="45720">
                    <a:solidFill>
                      <a:srgbClr val="F64D8D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PathWidth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0.35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라인 폭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HeadWidth</a:t>
                      </a:r>
                    </a:p>
                  </a:txBody>
                  <a:tcPr marL="91440" marR="91440" marT="45720" marB="45720">
                    <a:solidFill>
                      <a:srgbClr val="17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0.55</a:t>
                      </a:r>
                    </a:p>
                  </a:txBody>
                  <a:tcPr marL="91440" marR="91440" marT="45720" marB="45720">
                    <a:solidFill>
                      <a:srgbClr val="17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화살촉 폭</a:t>
                      </a:r>
                    </a:p>
                  </a:txBody>
                  <a:tcPr marL="91440" marR="91440" marT="45720" marB="45720">
                    <a:solidFill>
                      <a:srgbClr val="17263A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HeadLength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0.45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화살촉 길이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CurveSegments</a:t>
                      </a:r>
                    </a:p>
                  </a:txBody>
                  <a:tcPr marL="91440" marR="91440" marT="45720" marB="45720">
                    <a:solidFill>
                      <a:srgbClr val="17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17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곡선 분할</a:t>
                      </a:r>
                    </a:p>
                  </a:txBody>
                  <a:tcPr marL="91440" marR="91440" marT="45720" marB="45720">
                    <a:solidFill>
                      <a:srgbClr val="17263A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CurveRadius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0.35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곡률 반경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85EA65-C44E-44D0-84F9-748F908D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29200"/>
            <a:ext cx="47434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81C138-77FD-407B-AF55-AC40ED58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292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4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A1F0BA-491C-4EEA-9F4E-6CD2E596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1911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0.3초 드로잉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80BD20-871E-404B-B7C7-5ECAFAC9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2197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ShowPathAnimated()로 진행 방향을 따라 표시</a:t>
            </a:r>
          </a:p>
        </p:txBody>
      </p:sp>
    </p:spTree>
    <p:extLst>
      <p:ext uri="{BB962C8B-B14F-4D97-AF65-F5344CB8AC3E}">
        <p14:creationId xmlns:p14="http://schemas.microsoft.com/office/powerpoint/2010/main" val="6467871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7F7A2D6-3463-487C-99A2-752FA9D1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4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92928-2A00-4738-BFE9-BCC3B6C1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PIXELCHROMA  /  ENEMY MOVE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C76C5D-4988-4584-9668-8D628F40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A92747-9E2F-4AF8-A792-FB3592CE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277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BBB365-28BE-4A5D-935A-BFFF7D4E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rPr>
              <a:t>PROCESSENEMYTURN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865558A-603E-44DA-A3AE-D08755AE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적 턴은 일곱 단계로 연출된다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F0C82-2ABE-47A0-A0F0-19E967C1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4765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AA0103-B870-49D1-8F8D-BF2C15FE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D2D180-3A9D-4253-901C-E6F95E49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95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FOCUS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535008-F971-42FC-AF3C-33445D13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FocusOnAndWait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E9DC45-BF16-4ECA-80EC-A2327F7C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19350"/>
            <a:ext cx="3048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64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385A27-CCA0-48C8-831E-CC2C989E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4765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0B87B2-EC78-4D3B-9FBA-02CE103C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955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69DCAD-9E7D-4360-974D-46CCF751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095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PAUSE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9CCD74-9422-4057-9E77-FB371254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431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0.2s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DDB314-52AE-4707-B17B-378E1D7E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19350"/>
            <a:ext cx="3048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64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23360B-9528-41A0-AFF8-DF0EA7DF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52625"/>
            <a:ext cx="24765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4B2046-D0A2-4624-B2BB-12CF78BB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F5F26B-2D9C-47C0-9FCE-391A604C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D9DCBB-A95D-48D5-A452-4ECA6D60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431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ShowPathAnimated 0.3s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348E42-D021-4951-8915-BBDAAC38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19350"/>
            <a:ext cx="3048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64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8F5EF7-FB6D-46DA-8ED5-E7997099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52625"/>
            <a:ext cx="24765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D31BE7-668F-414E-B57D-E0915D69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955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D31535-2FDF-4832-AD01-A569BB8C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95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PAUSE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069977-35C6-449D-9F03-3810348A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431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0.2s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4080AA-C7FF-43CA-9CDF-6A4962D1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33775"/>
            <a:ext cx="24765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C95574-94DF-4620-BB5F-617E0722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94F10E-770B-48BE-BDD9-EF7E5CCF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76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MOVE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965272-786B-4654-B67B-31A83AAC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0.4–1.5s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9AC79E-194D-48FC-8B41-D04E2F1F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000500"/>
            <a:ext cx="3048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64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9C52FA-E45A-4ACE-99B1-DBDA34BE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33775"/>
            <a:ext cx="24765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E472CC-699B-4F8F-A10E-B96323CB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76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4AD031-F1E3-4289-9074-FA089034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676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CLEAR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C7433F-4676-422A-B036-FE1F18C6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2432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화살표 제거 · 0.1s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554948-7BA1-4997-955E-19F70597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000500"/>
            <a:ext cx="3048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64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D7ED6B-EF94-43D8-BD29-0A14F36A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33775"/>
            <a:ext cx="24765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11B2B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D72845-DEE7-42A8-A1C6-1B639A00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76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64D8D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B73EF3-4FCE-4758-82F6-662FF1BA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76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ATTACK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37B7A5-F6FA-41B0-B8B2-AECC7EF3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2432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guard · counter · evasion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851E32-ED64-4336-A41A-C3D017C1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33775"/>
            <a:ext cx="26289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63A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7E5E2D-2481-4FDF-A45A-8F6E7D5F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95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8E2A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8E2A3"/>
                </a:solidFill>
                <a:latin typeface="Malgun Gothic"/>
                <a:ea typeface="Malgun Gothic"/>
                <a:cs typeface="Malgun Gothic"/>
              </a:rPr>
              <a:t>RESET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B7B269-0932-4F77-A969-458B1BA3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957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ResetFocus → 0.1s</a:t>
            </a:r>
          </a:p>
          <a:p xmlns:a="http://schemas.openxmlformats.org/drawingml/2006/main">
            <a:pPr>
              <a:defRPr sz="1200" b="0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→ 플레이어 턴 배너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EA3834-F8A3-46B6-9DAD-8D402D15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10972800" cy="762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75FD81C-BF86-4D2A-8146-2C0E35DD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9C4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9C4A"/>
                </a:solidFill>
                <a:latin typeface="Malgun Gothic"/>
                <a:ea typeface="Malgun Gothic"/>
                <a:cs typeface="Malgun Gothic"/>
              </a:rPr>
              <a:t>MOVE DURATION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7BF85C8-9D7A-4692-BC41-A074A037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4352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F8FC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F4F8FC"/>
                </a:solidFill>
                <a:latin typeface="Consolas"/>
                <a:ea typeface="Consolas"/>
                <a:cs typeface="Consolas"/>
              </a:rPr>
              <a:t>Clamp((tiles - 1) × 0.25, 0.4, 1.5)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92470EF-AC36-4377-8CEC-269855DA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10200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723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첫 타일 RemoveUnit → 타일 간 Lerp → 마지막 타일 PlaceUnit · HeightOffset 반영</a:t>
            </a:r>
          </a:p>
        </p:txBody>
      </p:sp>
    </p:spTree>
    <p:extLst>
      <p:ext uri="{BB962C8B-B14F-4D97-AF65-F5344CB8AC3E}">
        <p14:creationId xmlns:p14="http://schemas.microsoft.com/office/powerpoint/2010/main" val="2117478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C668E6-4B06-40D9-9C28-CE2CDFA9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111F"/>
              </a:gs>
              <a:gs pos="100000">
                <a:srgbClr val="17263A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CCF096-9E73-4CC8-8AD5-B4744487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5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8A27F-005B-4990-89DC-2015F320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668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A78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9A78FF"/>
                </a:solidFill>
                <a:latin typeface="Malgun Gothic"/>
                <a:ea typeface="Malgun Gothic"/>
                <a:cs typeface="Malgun Gothic"/>
              </a:rPr>
              <a:t>PART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248A30-63FE-492F-8BD3-C2794A7B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부대 &amp; 스프라이트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BD41D6-83EC-414A-BF5F-D3E37979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590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ScriptableObject 기반 유닛 구성 · 2D 스프라이트 비주얼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031177-7DE4-4347-9F8D-2AB6D9DC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25717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F202B8-B062-4EE9-8120-FA01EC2C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005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78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9A78FF"/>
                </a:solidFill>
                <a:latin typeface="Malgun Gothic"/>
                <a:ea typeface="Malgun Gothic"/>
                <a:cs typeface="Malgun Gothic"/>
              </a:rPr>
              <a:t>PIXELCHROMA TECH REPORT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05317b2ec74604"/>
          <a:stretch xmlns:a="http://schemas.openxmlformats.org/drawingml/2006/main"/>
        </p:blipFill>
        <p:spPr>
          <a:xfrm xmlns:a="http://schemas.openxmlformats.org/drawingml/2006/main">
            <a:off x="7620000" y="1883085"/>
            <a:ext cx="3714750" cy="330137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497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E50FEE-6638-45C2-A0DC-191C783E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46219C-958C-4BF7-BE2D-93D05A99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PIXELCHROMA  /  SQUAD &amp; SPRITE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CCF8A3-5E7F-49B2-86F2-FE37DBCE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A78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9A78FF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9A9765-9331-450C-B9E9-869A4072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277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97C912-7FA8-46BD-BDD2-42421FF1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rPr>
              <a:t>ENEMYSQUADDATA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90F39AC-7F5F-427D-A671-983CB9DB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스쿼드 데이터로 적을 구성한다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FFCF9-896C-406E-BE33-3BD842EB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40005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07101B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5DABCD-FEC5-4507-8399-95EDFCFF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4000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813F06-52FB-42C1-9760-4EF2D6A1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36195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[System.Serializable]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public class SquadMember {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public EnemyUnitData unit;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public int count;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public Vector2Int[] preferredCells;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Unit.Create(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Team.Enemy, pos, enemyPrefab,</a:t>
            </a:r>
          </a:p>
          <a:p xmlns:a="http://schemas.openxmlformats.org/drawingml/2006/main">
            <a:pPr>
              <a:defRPr sz="975" b="0">
                <a:solidFill>
                  <a:srgbClr val="C9D8E8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C9D8E8"/>
                </a:solidFill>
                <a:latin typeface="Consolas"/>
                <a:ea typeface="Consolas"/>
                <a:cs typeface="Consolas"/>
              </a:rPr>
              <a:t>  member.unit, defaultEnemySprite);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75C478-F2CB-410C-921F-2B2C5F6E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09750"/>
            <a:ext cx="314325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90C970-2DC7-41CC-9E58-EDB91BE9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193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A78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9A78FF"/>
                </a:solidFill>
                <a:latin typeface="Malgun Gothic"/>
                <a:ea typeface="Malgun Gothic"/>
                <a:cs typeface="Malgun Gothic"/>
              </a:rPr>
              <a:t>SQUAD_01_순찰반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0ae7063c70409a"/>
          <a:stretch xmlns:a="http://schemas.openxmlformats.org/drawingml/2006/main"/>
        </p:blipFill>
        <p:spPr>
          <a:xfrm xmlns:a="http://schemas.openxmlformats.org/drawingml/2006/main">
            <a:off x="5143500" y="2672373"/>
            <a:ext cx="1190625" cy="751255"/>
          </a:xfrm>
          <a:prstGeom xmlns:a="http://schemas.openxmlformats.org/drawingml/2006/main" prst="rect">
            <a:avLst/>
          </a:prstGeom>
        </p:spPr>
      </p:pic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3fc7df03d40b3"/>
          <a:stretch xmlns:a="http://schemas.openxmlformats.org/drawingml/2006/main"/>
        </p:blipFill>
        <p:spPr>
          <a:xfrm xmlns:a="http://schemas.openxmlformats.org/drawingml/2006/main">
            <a:off x="6683747" y="2400300"/>
            <a:ext cx="805706" cy="128587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18FC37-8F84-4331-85C3-3F6030C2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6237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순찰병 ×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7D2AA3-52BA-459D-864D-97033561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623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돌격병 ×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DEFFCF-0CD4-4631-98A1-CD728DDD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219575"/>
            <a:ext cx="259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SO가 있으면 구성대로 생성</a:t>
            </a:r>
          </a:p>
          <a:p xmlns:a="http://schemas.openxmlformats.org/drawingml/2006/main">
            <a:pPr algn="ctr">
              <a:def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없으면 generic 적을 생성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C316C8-0497-49E6-9D13-0A2E8775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321945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7263A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8F3659-C2C2-4115-8B3D-8AD7B447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383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rPr>
              <a:t>SPRITE PIPELINE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30ED84-F972-4D98-8FF3-1A268840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476500" cy="342900"/>
          </a:xfrm>
          <a:prstGeom xmlns:a="http://schemas.openxmlformats.org/drawingml/2006/main" prst="roundRect">
            <a:avLst>
              <a:gd name="adj" fmla="val 38889"/>
            </a:avLst>
          </a:prstGeom>
          <a:solidFill xmlns:a="http://schemas.openxmlformats.org/drawingml/2006/main">
            <a:srgbClr val="243B60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177061-EB19-4C7A-BBCE-70BB0796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43175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CharacterData.BattleSprite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C9FE08-AEE1-402E-A6B2-9879AD85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0"/>
            <a:ext cx="2476500" cy="342900"/>
          </a:xfrm>
          <a:prstGeom xmlns:a="http://schemas.openxmlformats.org/drawingml/2006/main" prst="roundRect">
            <a:avLst>
              <a:gd name="adj" fmla="val 38889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551650-0C0E-4082-9701-A9543D22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19425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unit.battleSprite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1BFD23-953C-4857-9332-E181C8CF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29000"/>
            <a:ext cx="2476500" cy="342900"/>
          </a:xfrm>
          <a:prstGeom xmlns:a="http://schemas.openxmlformats.org/drawingml/2006/main" prst="roundRect">
            <a:avLst>
              <a:gd name="adj" fmla="val 38889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73334F-837C-43EA-91B3-915E7D34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95675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fallback Sprite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20BCDD-E705-4418-8DE7-884DA8F9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0"/>
            <a:ext cx="2476500" cy="342900"/>
          </a:xfrm>
          <a:prstGeom xmlns:a="http://schemas.openxmlformats.org/drawingml/2006/main" prst="roundRect">
            <a:avLst>
              <a:gd name="adj" fmla="val 38889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CA4AFA-B0C5-422F-85F9-B6DB8373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971925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5E6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5E68"/>
                </a:solidFill>
                <a:latin typeface="Malgun Gothic"/>
                <a:ea typeface="Malgun Gothic"/>
                <a:cs typeface="Malgun Gothic"/>
              </a:rPr>
              <a:t>null / red cube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BF6FD4-04E3-439E-B7DA-3328423B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29200"/>
            <a:ext cx="1097280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328012-641A-484B-9352-33C93CB9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9C4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9C4A"/>
                </a:solidFill>
                <a:latin typeface="Malgun Gothic"/>
                <a:ea typeface="Malgun Gothic"/>
                <a:cs typeface="Malgun Gothic"/>
              </a:rPr>
              <a:t>EDITOR TOOL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868D65-6E70-4382-9222-66956916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62550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1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Tools &gt; 적 유닛 스프라이트 강제 연결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A66582-8C37-405F-9377-A0A2F2C7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911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이름으로 Sprite와 EnemyUnitData를 매칭 · SetupSpriteVisual이 Quad + 2D Billboard로 변환</a:t>
            </a:r>
          </a:p>
        </p:txBody>
      </p:sp>
    </p:spTree>
    <p:extLst>
      <p:ext uri="{BB962C8B-B14F-4D97-AF65-F5344CB8AC3E}">
        <p14:creationId xmlns:p14="http://schemas.microsoft.com/office/powerpoint/2010/main" val="12037472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F6B665-DD25-4AC8-A5CA-51F6CAB3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111F"/>
              </a:gs>
              <a:gs pos="100000">
                <a:srgbClr val="17263A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FA2CB-7633-47D4-B0CD-2AD1390A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5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C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48BCB6-E70F-4DA3-9B74-511A5F4C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668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9C4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9C4A"/>
                </a:solidFill>
                <a:latin typeface="Malgun Gothic"/>
                <a:ea typeface="Malgun Gothic"/>
                <a:cs typeface="Malgun Gothic"/>
              </a:rPr>
              <a:t>PART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9AF204-D4E2-4BAA-9C61-6CC7A7BA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승리 · 패배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1204C4-8D3F-448F-BACE-598952D2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590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배틀 결과 판정 · 배너 연출 · 스테이지 진행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600C0B-3EFB-4D2A-B66D-96E8C9B1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25717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B65B9D-9BBE-44B6-866E-8BCE6E23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005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9C4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9C4A"/>
                </a:solidFill>
                <a:latin typeface="Malgun Gothic"/>
                <a:ea typeface="Malgun Gothic"/>
                <a:cs typeface="Malgun Gothic"/>
              </a:rPr>
              <a:t>PIXELCHROMA TECH REPORT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7dd1aa275d4c12"/>
          <a:stretch xmlns:a="http://schemas.openxmlformats.org/drawingml/2006/main"/>
        </p:blipFill>
        <p:spPr>
          <a:xfrm xmlns:a="http://schemas.openxmlformats.org/drawingml/2006/main">
            <a:off x="7620000" y="1813244"/>
            <a:ext cx="3714750" cy="344106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8839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9C2061-37F5-4862-9DB2-A9A458AC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C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2A2B9B-0802-4ADE-B54F-9843B68A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PIXELCHROMA  /  BATTLE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21B131-EAB4-433A-8AD2-2B7BADE8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9C4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9C4A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30D9C3-0C3E-4598-A891-E819836A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277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8E7985-F82E-4AEE-B457-F9E205BC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rPr>
              <a:t>CHECKBATTLEEND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8D61E95-F730-47BE-9A3F-49FFAEF9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전투가 끝나는 순간을 판정한다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642930-E7BB-4112-99A1-9CD12364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57375"/>
            <a:ext cx="110490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76F778-0604-4EA7-8221-31643EFE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9C4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9C4A"/>
                </a:solidFill>
                <a:latin typeface="Malgun Gothic"/>
                <a:ea typeface="Malgun Gothic"/>
                <a:cs typeface="Malgun Gothic"/>
              </a:rPr>
              <a:t>ATTACK RESOLVED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E294CF-A54D-422A-B504-BDF23000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981200"/>
            <a:ext cx="798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공격 처리 직후 살아 있는 플레이어와 적 유닛 수를 다시 계산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3CC121-66D9-4E83-B2D4-F3FF0CF1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705100"/>
            <a:ext cx="609600" cy="523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9C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6F5ED9-C3CB-4681-BDA8-2DDF2C03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5219700" cy="1952625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AB7FCB-A386-4B6D-B8E4-5A13ACAD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571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E2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D647FD-CFDC-46CC-ACC2-5BCD68C6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8E2A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58E2A3"/>
                </a:solidFill>
                <a:latin typeface="Malgun Gothic"/>
                <a:ea typeface="Malgun Gothic"/>
                <a:cs typeface="Malgun Gothic"/>
              </a:rPr>
              <a:t>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98C16D-248D-43F5-9145-21FBE126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05200"/>
            <a:ext cx="426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VICTORY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AA5BCD-4A20-4C1F-B60A-39C6DAAB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47625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적 생존 수 = 0</a:t>
            </a:r>
          </a:p>
          <a:p xmlns:a="http://schemas.openxmlformats.org/drawingml/2006/main">
            <a:pPr>
              <a:def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BattleResult → 승리 메시지</a:t>
            </a:r>
          </a:p>
          <a:p xmlns:a="http://schemas.openxmlformats.org/drawingml/2006/main">
            <a:pPr>
              <a:def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UnlockNextStage() → ShowVictory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DC470E-373F-451D-B0D8-B2DDEEC0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5219700" cy="1952625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BC06FA-BE16-40A3-82B3-01A249A6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571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E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0ADC27-0534-4406-8748-F5F77313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861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5E6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5E68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1A5AAE-68BE-4915-B78B-6AA8229D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05200"/>
            <a:ext cx="426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DEFEAT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EC8393-CF12-4C14-84FF-D5639196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62400"/>
            <a:ext cx="47625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플레이어 생존 수 = 0</a:t>
            </a:r>
          </a:p>
          <a:p xmlns:a="http://schemas.openxmlformats.org/drawingml/2006/main">
            <a:pPr>
              <a:def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BattleResult → 패배 메시지</a:t>
            </a:r>
          </a:p>
          <a:p xmlns:a="http://schemas.openxmlformats.org/drawingml/2006/main">
            <a:pPr>
              <a:def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ShowDefeat · 스테이지 해금 없음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573FFB-5461-40A9-A66F-91823605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72125"/>
            <a:ext cx="11049000" cy="5143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A1F17"/>
          </a:solidFill>
          <a:ln xmlns:a="http://schemas.openxmlformats.org/drawingml/2006/main" w="9525">
            <a:solidFill>
              <a:srgbClr val="FF9C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8E2730-AB56-404E-8D15-DC689446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95950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9C4A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FF9C4A"/>
                </a:solidFill>
                <a:latin typeface="Consolas"/>
                <a:ea typeface="Consolas"/>
                <a:cs typeface="Consolas"/>
              </a:rPr>
              <a:t>yield break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D43943-6F6D-4963-A655-CB26B796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695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결과가 확정되면 남은 코루틴 행동을 즉시 중단한다.</a:t>
            </a:r>
          </a:p>
        </p:txBody>
      </p:sp>
    </p:spTree>
    <p:extLst>
      <p:ext uri="{BB962C8B-B14F-4D97-AF65-F5344CB8AC3E}">
        <p14:creationId xmlns:p14="http://schemas.microsoft.com/office/powerpoint/2010/main" val="12624916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266129-204B-4B5D-8FF4-0164538D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A66FA-D5A4-4EA8-B4F3-F45709D8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PIXELCHROMA  / 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FEF00-103A-47C2-806E-04F86BE7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28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5D69CF-5211-45F8-B858-5F4EE690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277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0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A74A94-1A0A-43F4-BD3E-866FF608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BE0E5"/>
                </a:solidFill>
                <a:latin typeface="Malgun Gothic"/>
                <a:ea typeface="Malgun Gothic"/>
                <a:cs typeface="Malgun Gothic"/>
              </a:rPr>
              <a:t>DESIGN PRINCIPLE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DE9157F-FC20-4E17-927A-1B63D024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네 파트를 관통하는 원칙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07E114-75DA-4E1D-9B18-E1DAD3ED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11049000" cy="87630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132D3A"/>
          </a:solidFill>
          <a:ln xmlns:a="http://schemas.openxmlformats.org/drawingml/2006/main" w="9525">
            <a:solidFill>
              <a:srgbClr val="3BE0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838E33-0235-4561-887B-EE23603F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7167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4F8FC"/>
                </a:solidFill>
                <a:latin typeface="Malgun Gothic"/>
                <a:ea typeface="Malgun Gothic"/>
                <a:cs typeface="Malgun Gothic"/>
              </a:rPr>
              <a:t>“보이지 않던 것을 보이게 만든다”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552450" y="2952750"/>
          <a:ext xmlns:a="http://schemas.openxmlformats.org/drawingml/2006/main" cx="11049000" cy="2476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83000"/>
                <a:gridCol w="3683000"/>
                <a:gridCol w="3683000"/>
              </a:tblGrid>
              <a:tr h="4953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8111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파트</a:t>
                      </a:r>
                    </a:p>
                  </a:txBody>
                  <a:tcPr marL="91440" marR="91440" marT="45720" marB="45720">
                    <a:solidFill>
                      <a:srgbClr val="3BE0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8111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이전</a:t>
                      </a:r>
                    </a:p>
                  </a:txBody>
                  <a:tcPr marL="91440" marR="91440" marT="45720" marB="45720">
                    <a:solidFill>
                      <a:srgbClr val="3BE0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8111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후</a:t>
                      </a:r>
                    </a:p>
                  </a:txBody>
                  <a:tcPr marL="91440" marR="91440" marT="45720" marB="45720">
                    <a:solidFill>
                      <a:srgbClr val="3BE0E5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9CB0C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CB0C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고정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8F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동적 포커스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9CB0C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 이동</a:t>
                      </a:r>
                    </a:p>
                  </a:txBody>
                  <a:tcPr marL="91440" marR="91440" marT="45720" marB="45720">
                    <a:solidFill>
                      <a:srgbClr val="17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CB0C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순간 이동</a:t>
                      </a:r>
                    </a:p>
                  </a:txBody>
                  <a:tcPr marL="91440" marR="91440" marT="45720" marB="45720">
                    <a:solidFill>
                      <a:srgbClr val="17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8F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경로 기반 시퀀스</a:t>
                      </a:r>
                    </a:p>
                  </a:txBody>
                  <a:tcPr marL="91440" marR="91440" marT="45720" marB="45720">
                    <a:solidFill>
                      <a:srgbClr val="17263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9CB0C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부대 &amp; 스프라이트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CB0C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큐브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8F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SO 기반 비주얼</a:t>
                      </a:r>
                    </a:p>
                  </a:txBody>
                  <a:tcPr marL="91440" marR="91440" marT="45720" marB="45720">
                    <a:solidFill>
                      <a:srgbClr val="111D2E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9CB0C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승리 · 패배</a:t>
                      </a:r>
                    </a:p>
                  </a:txBody>
                  <a:tcPr marL="91440" marR="91440" marT="45720" marB="45720">
                    <a:solidFill>
                      <a:srgbClr val="17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CB0C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수동</a:t>
                      </a:r>
                    </a:p>
                  </a:txBody>
                  <a:tcPr marL="91440" marR="91440" marT="45720" marB="45720">
                    <a:solidFill>
                      <a:srgbClr val="17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8F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 판정</a:t>
                      </a:r>
                    </a:p>
                  </a:txBody>
                  <a:tcPr marL="91440" marR="91440" marT="45720" marB="45720">
                    <a:solidFill>
                      <a:srgbClr val="17263A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4E688A-DA5A-4632-88C9-4ADE399C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959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A78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9A78FF"/>
                </a:solidFill>
                <a:latin typeface="Malgun Gothic"/>
                <a:ea typeface="Malgun Gothic"/>
                <a:cs typeface="Malgun Gothic"/>
              </a:rPr>
              <a:t>KEY FILES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EF163F-FE37-4CEC-9105-AEB5DE39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57850"/>
            <a:ext cx="9477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9CB0C8"/>
                </a:solidFill>
                <a:latin typeface="Malgun Gothic"/>
                <a:ea typeface="Malgun Gothic"/>
                <a:cs typeface="Malgun Gothic"/>
              </a:rPr>
              <a:t>CameraController.cs  ·  PathArrowRenderer.cs  ·  Unit.cs  ·  EnemySpriteLinker.cs  ·  Enemy/Squads/*.asset</a:t>
            </a:r>
          </a:p>
        </p:txBody>
      </p:sp>
    </p:spTree>
    <p:extLst>
      <p:ext uri="{BB962C8B-B14F-4D97-AF65-F5344CB8AC3E}">
        <p14:creationId xmlns:p14="http://schemas.microsoft.com/office/powerpoint/2010/main" val="18464032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2026-09-11T06:51:17.3350000Z</dcterms:created>
  <dcterms:modified xsi:type="dcterms:W3CDTF">2026-09-11T06:51:17.3350000Z</dcterms:modified>
</coreProperties>
</file>