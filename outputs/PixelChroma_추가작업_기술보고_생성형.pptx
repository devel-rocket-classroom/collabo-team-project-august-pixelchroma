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b2df4b7be4061" /><Relationship Type="http://schemas.openxmlformats.org/officeDocument/2006/relationships/extended-properties" Target="/docProps/app.xml" Id="R430d4b2536034cd0" /><Relationship Type="http://schemas.openxmlformats.org/officeDocument/2006/relationships/officeDocument" Target="/ppt/presentation.xml" Id="R3ae0811404ca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585446ae44623"/>
  </p:sldMasterIdLst>
  <p:notesMasterIdLst>
    <p:notesMasterId xmlns:r="http://schemas.openxmlformats.org/officeDocument/2006/relationships" r:id="Rf42830d6d59843aa"/>
  </p:notesMasterIdLst>
  <p:sldIdLst>
    <p:sldId xmlns:r="http://schemas.openxmlformats.org/officeDocument/2006/relationships" id="256" r:id="R8334b7d8295c458e"/>
    <p:sldId xmlns:r="http://schemas.openxmlformats.org/officeDocument/2006/relationships" id="257" r:id="R67062036d8a04917"/>
    <p:sldId xmlns:r="http://schemas.openxmlformats.org/officeDocument/2006/relationships" id="258" r:id="Ra31df7c5cf53459e"/>
    <p:sldId xmlns:r="http://schemas.openxmlformats.org/officeDocument/2006/relationships" id="259" r:id="R525cefbb9beb4a3a"/>
    <p:sldId xmlns:r="http://schemas.openxmlformats.org/officeDocument/2006/relationships" id="260" r:id="R35a80c09be1e4386"/>
    <p:sldId xmlns:r="http://schemas.openxmlformats.org/officeDocument/2006/relationships" id="261" r:id="R1e81a7dec1df4478"/>
    <p:sldId xmlns:r="http://schemas.openxmlformats.org/officeDocument/2006/relationships" id="262" r:id="Re75cfd3e9c0543a8"/>
    <p:sldId xmlns:r="http://schemas.openxmlformats.org/officeDocument/2006/relationships" id="263" r:id="Rcae89360481d464d"/>
    <p:sldId xmlns:r="http://schemas.openxmlformats.org/officeDocument/2006/relationships" id="264" r:id="Raa980018168e419c"/>
    <p:sldId xmlns:r="http://schemas.openxmlformats.org/officeDocument/2006/relationships" id="265" r:id="R3666379395904d45"/>
    <p:sldId xmlns:r="http://schemas.openxmlformats.org/officeDocument/2006/relationships" id="266" r:id="R7bfdd8bdbce44f4f"/>
    <p:sldId xmlns:r="http://schemas.openxmlformats.org/officeDocument/2006/relationships" id="267" r:id="R3a1a11f8fbbf4f57"/>
    <p:sldId xmlns:r="http://schemas.openxmlformats.org/officeDocument/2006/relationships" id="268" r:id="R31f69ad6f06547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c9d5b545049e9" /><Relationship Type="http://schemas.openxmlformats.org/officeDocument/2006/relationships/slideMaster" Target="/ppt/slideMasters/slideMaster1.xml" Id="R761585446ae44623" /><Relationship Type="http://schemas.openxmlformats.org/officeDocument/2006/relationships/notesMaster" Target="/ppt/notesMasters/notesMaster1.xml" Id="Rf42830d6d59843aa" /><Relationship Type="http://schemas.openxmlformats.org/officeDocument/2006/relationships/presProps" Target="/ppt/presProps.xml" Id="Rd3dbc92ce36242f4" /><Relationship Type="http://schemas.openxmlformats.org/officeDocument/2006/relationships/tableStyles" Target="/ppt/tableStyles.xml" Id="Re17cf44dd30545b8" /><Relationship Type="http://schemas.openxmlformats.org/officeDocument/2006/relationships/slide" Target="/ppt/slides/slide1.xml" Id="R8334b7d8295c458e" /><Relationship Type="http://schemas.openxmlformats.org/officeDocument/2006/relationships/slide" Target="/ppt/slides/slide2.xml" Id="R67062036d8a04917" /><Relationship Type="http://schemas.openxmlformats.org/officeDocument/2006/relationships/slide" Target="/ppt/slides/slide3.xml" Id="Ra31df7c5cf53459e" /><Relationship Type="http://schemas.openxmlformats.org/officeDocument/2006/relationships/slide" Target="/ppt/slides/slide4.xml" Id="R525cefbb9beb4a3a" /><Relationship Type="http://schemas.openxmlformats.org/officeDocument/2006/relationships/slide" Target="/ppt/slides/slide5.xml" Id="R35a80c09be1e4386" /><Relationship Type="http://schemas.openxmlformats.org/officeDocument/2006/relationships/slide" Target="/ppt/slides/slide6.xml" Id="R1e81a7dec1df4478" /><Relationship Type="http://schemas.openxmlformats.org/officeDocument/2006/relationships/slide" Target="/ppt/slides/slide7.xml" Id="Re75cfd3e9c0543a8" /><Relationship Type="http://schemas.openxmlformats.org/officeDocument/2006/relationships/slide" Target="/ppt/slides/slide8.xml" Id="Rcae89360481d464d" /><Relationship Type="http://schemas.openxmlformats.org/officeDocument/2006/relationships/slide" Target="/ppt/slides/slide9.xml" Id="Raa980018168e419c" /><Relationship Type="http://schemas.openxmlformats.org/officeDocument/2006/relationships/slide" Target="/ppt/slides/slide10.xml" Id="R3666379395904d45" /><Relationship Type="http://schemas.openxmlformats.org/officeDocument/2006/relationships/slide" Target="/ppt/slides/slide11.xml" Id="R7bfdd8bdbce44f4f" /><Relationship Type="http://schemas.openxmlformats.org/officeDocument/2006/relationships/slide" Target="/ppt/slides/slide12.xml" Id="R3a1a11f8fbbf4f57" /><Relationship Type="http://schemas.openxmlformats.org/officeDocument/2006/relationships/slide" Target="/ppt/slides/slide13.xml" Id="R31f69ad6f065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49381f6fa246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119ebd7a004cc3" /><Relationship Type="http://schemas.openxmlformats.org/officeDocument/2006/relationships/notesMaster" Target="/ppt/notesMasters/notesMaster1.xml" Id="Rb37d1a641f42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d86592ac05484f" /><Relationship Type="http://schemas.openxmlformats.org/officeDocument/2006/relationships/notesMaster" Target="/ppt/notesMasters/notesMaster1.xml" Id="Ree66c9c3532846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b0d23db22d4e25" /><Relationship Type="http://schemas.openxmlformats.org/officeDocument/2006/relationships/notesMaster" Target="/ppt/notesMasters/notesMaster1.xml" Id="R314c0ee637f5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f0f446fde427a" /><Relationship Type="http://schemas.openxmlformats.org/officeDocument/2006/relationships/notesMaster" Target="/ppt/notesMasters/notesMaster1.xml" Id="R2a771e2668f84b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1e6543bd144d17" /><Relationship Type="http://schemas.openxmlformats.org/officeDocument/2006/relationships/notesMaster" Target="/ppt/notesMasters/notesMaster1.xml" Id="R1d37f183a3a9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02043018f241e8" /><Relationship Type="http://schemas.openxmlformats.org/officeDocument/2006/relationships/notesMaster" Target="/ppt/notesMasters/notesMaster1.xml" Id="Rb45cec728d9642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3ac9e7c8134a7e" /><Relationship Type="http://schemas.openxmlformats.org/officeDocument/2006/relationships/notesMaster" Target="/ppt/notesMasters/notesMaster1.xml" Id="Rf47f537890e941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26aa4d02ff4fe7" /><Relationship Type="http://schemas.openxmlformats.org/officeDocument/2006/relationships/notesMaster" Target="/ppt/notesMasters/notesMaster1.xml" Id="R9a31394728a548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47b9169d924df7" /><Relationship Type="http://schemas.openxmlformats.org/officeDocument/2006/relationships/notesMaster" Target="/ppt/notesMasters/notesMaster1.xml" Id="R0eab712d529a40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0e579703c14cf1" /><Relationship Type="http://schemas.openxmlformats.org/officeDocument/2006/relationships/notesMaster" Target="/ppt/notesMasters/notesMaster1.xml" Id="R0e8886082d16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2a272f4237486d" /><Relationship Type="http://schemas.openxmlformats.org/officeDocument/2006/relationships/notesMaster" Target="/ppt/notesMasters/notesMaster1.xml" Id="Rac9a334afd1e4c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68a7a67d5d4699" /><Relationship Type="http://schemas.openxmlformats.org/officeDocument/2006/relationships/notesMaster" Target="/ppt/notesMasters/notesMaster1.xml" Id="R61506373509d46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4c5a7ec7fc4e95" /><Relationship Type="http://schemas.openxmlformats.org/officeDocument/2006/relationships/notesMaster" Target="/ppt/notesMasters/notesMaster1.xml" Id="R65709c9c33ee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제목: PixelChroma 추가 작업 보고. 기술 환경: Unity 6000.3.10f1, 5×6 Grid, Portrait/Mobile.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목차: 04 카메라 연출, 05 적 이동 연출, 06 부대와 스프라이트, 07 승리와 패배.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연출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SmoothStep 보간으로 카메라 위치와 FOV를 함께 변경한다. 핵심 값은 38도, 0.35초, follow damping 8f.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2.5D 탑뷰에서 카메라와 건물이 닿아 유닛을 가리는 문제를 충돌 감지와 머티리얼 알파 조절로 해결한다.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 이동 연출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A* 경로를 굵은 붉은 선과 삼각형 화살촉으로 시각화한다. 우회전과 좌회전 코너는 Quadratic Bezier로 완화한다.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 유닛별로 카메라 포커스, 경로 표시, 이동, 공격, 카메라 복원을 순서대로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부대 &amp; 스프라이트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EnemySquadData ScriptableObject로 적 구성과 수를 정의한다. 전투 스프라이트는 데이터에서 fallback까지 단계적으로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승리 · 패배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공격 후 CheckBattleEnd가 생존 유닛을 확인한다. 승리 시 다음 스테이지를 해금하고, 패배 시 해금하지 않는다. yield break로 후속 행동을 중단한다.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원칙은 전투 상태와 의도를 플레이어가 볼 수 있게 만드는 것이다. 주요 파일: Grid/CameraController.cs, UI/PathArrowRenderer.cs, GamePlay/Unit.cs, Editor/EnemySpriteLinker.cs, SOdata/Enemy/Squads/*.asset.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a674e019440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def1d136e4925" /><Relationship Type="http://schemas.openxmlformats.org/officeDocument/2006/relationships/slideLayout" Target="/ppt/slideLayouts/slideLayout1.xml" Id="R0f9cd12aa03f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cd12aa03f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756822d074468" /><Relationship Type="http://schemas.openxmlformats.org/officeDocument/2006/relationships/image" Target="/ppt/media/image.png" Id="R25ea7d32b81b4792" /><Relationship Type="http://schemas.openxmlformats.org/officeDocument/2006/relationships/image" Target="/ppt/media/image2.png" Id="Ra2a1ddcfafd34329" /><Relationship Type="http://schemas.openxmlformats.org/officeDocument/2006/relationships/notesSlide" Target="/ppt/notesSlides/notesSlide1.xml" Id="R81322c90836943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268c0188344d6" /><Relationship Type="http://schemas.openxmlformats.org/officeDocument/2006/relationships/notesSlide" Target="/ppt/notesSlides/notesSlide2.xml" Id="R552e6809319d42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d3415bcbf4cb8" /><Relationship Type="http://schemas.openxmlformats.org/officeDocument/2006/relationships/image" Target="/ppt/media/image3.png" Id="Rdaead5b5ed484b36" /><Relationship Type="http://schemas.openxmlformats.org/officeDocument/2006/relationships/notesSlide" Target="/ppt/notesSlides/notesSlide3.xml" Id="R6674dd5b1be3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b101ea7054754" /><Relationship Type="http://schemas.openxmlformats.org/officeDocument/2006/relationships/notesSlide" Target="/ppt/notesSlides/notesSlide4.xml" Id="R8a0ab8af963a41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799c48f24924" /><Relationship Type="http://schemas.openxmlformats.org/officeDocument/2006/relationships/notesSlide" Target="/ppt/notesSlides/notesSlide5.xml" Id="R2a5db460f5aa44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e553a52304a7b" /><Relationship Type="http://schemas.openxmlformats.org/officeDocument/2006/relationships/image" Target="/ppt/media/image4.png" Id="R74508bc28542400f" /><Relationship Type="http://schemas.openxmlformats.org/officeDocument/2006/relationships/notesSlide" Target="/ppt/notesSlides/notesSlide6.xml" Id="R65af93de67f345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1567ba90c4696" /><Relationship Type="http://schemas.openxmlformats.org/officeDocument/2006/relationships/notesSlide" Target="/ppt/notesSlides/notesSlide7.xml" Id="Ra5cc6ace0e75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63cc6f392466f" /><Relationship Type="http://schemas.openxmlformats.org/officeDocument/2006/relationships/notesSlide" Target="/ppt/notesSlides/notesSlide8.xml" Id="R9a8fb836160d41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fce7e3b9c4295" /><Relationship Type="http://schemas.openxmlformats.org/officeDocument/2006/relationships/image" Target="/ppt/media/image5.png" Id="R87fa44b1aba24a3b" /><Relationship Type="http://schemas.openxmlformats.org/officeDocument/2006/relationships/notesSlide" Target="/ppt/notesSlides/notesSlide9.xml" Id="R41c18550d4ad43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bb9c7b6044393" /><Relationship Type="http://schemas.openxmlformats.org/officeDocument/2006/relationships/image" Target="/ppt/media/image6.png" Id="R87fb90fd53c54a89" /><Relationship Type="http://schemas.openxmlformats.org/officeDocument/2006/relationships/image" Target="/ppt/media/image7.png" Id="R16e3443fbb1b420c" /><Relationship Type="http://schemas.openxmlformats.org/officeDocument/2006/relationships/notesSlide" Target="/ppt/notesSlides/notesSlide10.xml" Id="Rab57f2ad205040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34010ade34c91" /><Relationship Type="http://schemas.openxmlformats.org/officeDocument/2006/relationships/image" Target="/ppt/media/image8.png" Id="R48761d48545d4fe0" /><Relationship Type="http://schemas.openxmlformats.org/officeDocument/2006/relationships/notesSlide" Target="/ppt/notesSlides/notesSlide11.xml" Id="Rf389ec7608fe49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dc4b0ecb4fe0" /><Relationship Type="http://schemas.openxmlformats.org/officeDocument/2006/relationships/notesSlide" Target="/ppt/notesSlides/notesSlide12.xml" Id="Rf08fb2cd893d49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8e69dd214c66" /><Relationship Type="http://schemas.openxmlformats.org/officeDocument/2006/relationships/notesSlide" Target="/ppt/notesSlides/notesSlide13.xml" Id="R3788644d4d29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27F02-2E08-430B-99C2-A1A55B2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5000">
                <a:srgbClr val="14213A"/>
              </a:gs>
              <a:gs pos="100000">
                <a:srgbClr val="241332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B8C86-D1D9-4260-B7D9-FDD15F0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572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E76DC-A549-44FA-BBF0-93E4836A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3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UNITY 6 · GRID TACTICS · TECH REPORT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91EAAD-F42C-4A0A-BA0E-AB8C4785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14450"/>
            <a:ext cx="657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PixelChroma</a:t>
            </a:r>
          </a:p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추가 작업 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14EF7-52DD-4BDB-9E81-B18F378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카메라 연출 · 적 이동 시퀀스 · 부대 스프라이트 · 승리/패배 판정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2408-D19C-42DD-8F1A-BDF8528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5D50F-EFB4-42D1-99D2-2653388B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148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UNITY 6000.3.10f1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FFC40-7AEF-496D-BA9B-122CA43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672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2FDE8-B1C2-4E1D-9DE2-2D56EC59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148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5 × 6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E3EE5-F3CC-492B-8AA5-5BEE5F9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672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21E42-0903-4228-BA1B-73ADB324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14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PORTRAIT /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19593-92DF-4133-9E67-5A32123D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2026.09.11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a7d32b81b4792"/>
          <a:stretch xmlns:a="http://schemas.openxmlformats.org/drawingml/2006/main"/>
        </p:blipFill>
        <p:spPr>
          <a:xfrm xmlns:a="http://schemas.openxmlformats.org/drawingml/2006/main">
            <a:off x="7200900" y="1665830"/>
            <a:ext cx="3714750" cy="3859716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1ddcfafd34329"/>
          <a:stretch xmlns:a="http://schemas.openxmlformats.org/drawingml/2006/main"/>
        </p:blipFill>
        <p:spPr>
          <a:xfrm xmlns:a="http://schemas.openxmlformats.org/drawingml/2006/main">
            <a:off x="9544050" y="4006146"/>
            <a:ext cx="2095500" cy="13222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91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0195C-83B6-4A89-8D1C-2EB8580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B91F7-56E1-4C9B-8BCC-6B2FC5D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6865-2DAA-4B05-BE05-BB7A519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C7856-FAA2-4A8D-81FE-2BE6B1E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AD3D8-B603-4190-8366-9AD8E55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39597D-A179-4BEB-8BCC-3ACC242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네 가지 작업이 하나의 전투 흐름을 만든다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7A4E9-A663-4A43-AC4E-6B407BA6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15CF6-7B3A-4D12-9FEE-D13BEE5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FFFC6-5BA8-4B6A-8BBE-9E4EF451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858D0-8848-4758-9EAF-A09EFA70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 연출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1EB8B-A353-49FC-9BAA-8E0FB39F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포커스 줌 · 건물 페이드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A26E7-875E-4B9D-AF90-F03368C2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1D9DB-8373-4EEC-85AE-3C8F4CD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2EE08-2A4F-40F2-AEF7-0B6A5D5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6850A-1ED6-43EB-B809-B637189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이동 연출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8FF12-8FC1-4B07-90BA-493F0BEA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경로 화살표 · 타일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6D940-4736-4E55-BBD0-10551A5F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4B94C-4369-4208-9031-28A4DECE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0A120-1830-4AA5-8617-26D22A03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072B6-32DC-4BF7-BB95-D119B283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부대 &amp; 스프라이트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579B3-78F4-4C79-AE84-8EE8AF38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SO 기반 유닛 비주얼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D998E-E1D7-434C-B41E-1FFBA932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BC9C7-73E2-4E74-805B-C0A7308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CC004-3A55-4175-A54C-1F5D76E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678A7-6AA9-4A9C-A9BF-8DC6C36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승리 · 패배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D6E87-45B8-4E12-92B8-AB9F7D15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배틀 결과 시퀀스</a:t>
            </a:r>
          </a:p>
        </p:txBody>
      </p:sp>
    </p:spTree>
    <p:extLst>
      <p:ext uri="{BB962C8B-B14F-4D97-AF65-F5344CB8AC3E}">
        <p14:creationId xmlns:p14="http://schemas.microsoft.com/office/powerpoint/2010/main" val="519774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77B3D-21D6-424D-BC78-6EEE9419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486D-1DC6-4CD7-BBB9-E252879B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5BC1D-4E7C-47FB-8592-A6712AF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PART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C16EE-12E4-4886-949E-00BEE58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 연출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E6F50-A40D-4B99-A49B-EED7721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포커스 줌 · 건물 페이드 · 추적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0E1-0BE7-402D-8843-1A593CEC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69EF6-8727-40BA-BD91-E350D0C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ad5b5ed484b36"/>
          <a:stretch xmlns:a="http://schemas.openxmlformats.org/drawingml/2006/main"/>
        </p:blipFill>
        <p:spPr>
          <a:xfrm xmlns:a="http://schemas.openxmlformats.org/drawingml/2006/main">
            <a:off x="7620000" y="1900063"/>
            <a:ext cx="3714750" cy="32674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3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FBC2D-1B56-4A39-94B6-B1F40F1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4AD8-98E5-4A20-8638-82223D8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CAMERA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5F79F-980A-41E7-B0A8-104BDE24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0D55C-F9C5-4AA5-AEB8-F5D3D24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C1C02-AC7C-418E-9D2E-A9DE1BA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CAMERACONTROLLER.FOCUSON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8EDEB6C-009B-461F-9B01-442F7388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턴 전환마다 유닛을 줌인한다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D07A7-B5FC-4794-AE2E-450C9C50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05790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E84E3-6124-4F37-BD29-38A17E3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05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C3C8-3E82-427B-9F06-C72BF4F8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6769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public void FocusOn(Vector3 worldPosition)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offset = cam.transform.position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  - GetCurrentGroundFocus();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focusTargetPos = worldPosition + offset;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focusTargetPos.y = cam.transform.position.y;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focusStartPos = cam.transform.position;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focusStartFOV = cam.fieldOfView;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targetFOV = focusZoomFOV; // 38°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focusLerp = 0f;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isFocusing = true;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t = Mathf.SmoothStep(0f, 1f, focusLerp);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cam.transform.position = Vector3.Lerp(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focusStartPos, focusTargetPos,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cam.fieldOfView = Mathf.Lerp(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focusStartFOV, targetFOV, t);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E6D75-4F3F-4C61-9601-D401BFA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EFBFC-E057-4D0F-A8A3-5B35856F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4F503-3876-4E13-A88D-E243D9D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FocusOnAndWait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D917F-ECBD-42E7-B641-7C2A2DD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860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8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각 적 행동 전에 코루틴으로 카메라 이동이 끝날 때까지 기다린다.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795BC-B28B-41B1-904A-BB6FAFC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9925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7C9D6-084A-4A7F-A088-4AC6B12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99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81315-26C4-41DA-B7D0-5BF0C4C7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8137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ResetFocus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B7FEC-22BB-40E1-8158-B4D1711E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3857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6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모든 적 행동이 끝나면 위치와 FOV를 원래 상태로 복원한다.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4733A-BA57-45E7-8F57-70EE7AE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4DAE3-FC0A-4567-BA99-82D7FF6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38°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1E92E-6F6E-4E3E-9026-13142A8B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ZOOM FOV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AF7CC-3581-4067-8919-3FEE5B0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EDDC1-C480-4184-92A2-D8D4C50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0.35s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21F56-31D2-47D8-B0D8-59B0B87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TRANSITION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5B496-BADD-409B-81B8-665DFA8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968AA-2164-4E0C-9C94-4D71555A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8f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AC418-C1C7-4F11-9B27-309BC28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FOLLOW DAMPING</a:t>
            </a:r>
          </a:p>
        </p:txBody>
      </p:sp>
    </p:spTree>
    <p:extLst>
      <p:ext uri="{BB962C8B-B14F-4D97-AF65-F5344CB8AC3E}">
        <p14:creationId xmlns:p14="http://schemas.microsoft.com/office/powerpoint/2010/main" val="197835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AF455-13BA-4DA9-B2BC-17573F29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E3E52-2A37-4B37-A871-B76D784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CAMERA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AB0F8-6EF5-422F-A852-1EDDB2F8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AD370-4E4C-4AFB-8B7D-882F5DC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0A720-0C43-42C1-B18A-B8B64277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BUILDING FADE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5D7329E-BA4B-43D6-85C8-83F700E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카메라에 닿는 건물은 투명해진다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C699-7F1B-4989-87FA-931BE678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3F8F0-0A87-49D3-9900-38229981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95423-EEA5-4727-9DD7-B7C53603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3815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int hitCount = Physics.OverlapSphereNonAlloc(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transform.position,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buildingContactRadius, // 0.75f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buildingContactBuffer,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buildingContactMask);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targetAlpha = touching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? buildingFadeAlpha : 1f;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pair.Value.MoveTowards(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targetAlpha, fadeSpeed * Time.deltaTime);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4FDB5-DD90-4613-B0CB-FDBA3021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3F7D5-C2DB-4299-ABA2-24C71D55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DDEA4-D6FD-4F62-A739-3DD9ABE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F1262-803A-4054-9D74-21E551A3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감지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D57F5-C9B3-4B92-8E2B-44899B0F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OverlapSphereNonAlloc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버퍼 64 · No-GC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08D11-C415-405A-ACCE-5D1B2FA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613D4-CE16-4DDE-86E5-0ABF9BA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7F1F6-B921-4806-8287-F00C2214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0BC4E-4EFC-4639-BCAA-03AF2FF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머티리얼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14792-1DDB-4584-BB58-53BA8953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Renderer 머티리얼 복제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_BaseColor 알파 조절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49009-435D-4BE5-97F7-EA478EAA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0E98F-CD42-4AAA-A5EE-7750601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B0EA9-DFA1-4A7B-8B9A-4A5476B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1DF25-9BE2-404D-B049-552CB61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복원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7D6DC-CDB3-4758-89B7-398E66DD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alpha=1에서 원본 복구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복제 인스턴스 Destroy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B2D70-F553-4749-9502-7FD2977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09251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F1DC2-6A1B-4AE5-BEE0-79D6BAB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URP TRANSPARENT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BFD48-4CD6-4EA4-8030-EEC7ED1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_Surface=1   ·   SrcAlpha / OneMinusSrcAlpha   ·   _ZWrite=0   ·   RenderQueue=Transparent   ·   Outline 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A7913-47BF-4169-ABEE-B2B01E1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건물 루트 탐색: building / apartment / skyscraper · city_all / background_에서 중단 · LateUpdate 실행</a:t>
            </a:r>
          </a:p>
        </p:txBody>
      </p:sp>
    </p:spTree>
    <p:extLst>
      <p:ext uri="{BB962C8B-B14F-4D97-AF65-F5344CB8AC3E}">
        <p14:creationId xmlns:p14="http://schemas.microsoft.com/office/powerpoint/2010/main" val="124052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7A0AF-F8DE-4924-B14A-D9592A2D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C3F2E-45DE-47C5-9681-E199664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C7A2-3592-4BBF-8EC2-C21ACE2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PART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6EA38-001A-42C2-8719-F90D7A7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이동 연출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C23DD-1767-4C77-924E-289F08E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경로 화살표 · Bezier 곡선 · 타일 이동 애니메이션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98E6D-BE6F-4F97-8DA5-85F7F6A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FF376-D10D-49E3-9EAD-A9AC485F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08bc28542400f"/>
          <a:stretch xmlns:a="http://schemas.openxmlformats.org/drawingml/2006/main"/>
        </p:blipFill>
        <p:spPr>
          <a:xfrm xmlns:a="http://schemas.openxmlformats.org/drawingml/2006/main">
            <a:off x="7776439" y="819150"/>
            <a:ext cx="3401872" cy="542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1CC8D-0378-4105-82BD-76E2659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5A648-3A00-4F56-8B01-B1B37C80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ENEMY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2A4D8-5426-427A-AA3C-8FE8352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E36AA-925B-4B5E-8DC7-2068134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7C5EC-AD7E-4FFA-8091-77F59A5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PATHARROWRENDERER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0D4341-7C37-4A70-9E2F-A929A67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경로를 화살표로 그린다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CF8D4-0F1F-47D5-8E27-A8AC3007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810250" cy="3476625"/>
          </a:xfrm>
          <a:prstGeom xmlns:a="http://schemas.openxmlformats.org/drawingml/2006/main" prst="roundRect">
            <a:avLst>
              <a:gd name="adj" fmla="val 3836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247D4-0461-45CC-920C-B85C8531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CE223-1652-420F-ABD2-A804F6F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42925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dot = Vector3.Dot(dirIn, dirOut);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if (dot &gt; 0.99f)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result.Add(curr);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continue;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Vector3 curveStart = curr - dirIn * radius;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Vector3 curveEnd = curr + dirOut * radius;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for (int s = 0; s &lt;= CurveSegments; s++)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float t = (float)s / CurveSegments;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a = Vector3.Lerp(curveStart, curr,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b = Vector3.Lerp(curr, curveEnd,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result.Add(Vector3.Lerp(a, b, t));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B4C23-5E64-48A3-A196-F058927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직각 코너를 Quadratic Bezier로 부드럽게 연결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762750" y="1809750"/>
          <a:ext xmlns:a="http://schemas.openxmlformats.org/drawingml/2006/main" cx="47434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1150"/>
                <a:gridCol w="1581150"/>
                <a:gridCol w="1581150"/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상수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PathWidth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라인 폭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HeadWidth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화살촉 폭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HeadLength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화살촉 길이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CurveSegments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곡선 분할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CurveRadius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곡률 반경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E23B3-7D0A-43B4-A733-4CAC6B85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4743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134E5-F227-48E3-89C5-D02C295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891B6-631D-4624-909F-BE9CAA3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00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0.3초 드로잉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53205-8D15-4506-89FE-C362B7E4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57850"/>
            <a:ext cx="4286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ShowPathAnimated()로 경로가 진행 방향을 따라 나타난다.</a:t>
            </a:r>
          </a:p>
        </p:txBody>
      </p:sp>
    </p:spTree>
    <p:extLst>
      <p:ext uri="{BB962C8B-B14F-4D97-AF65-F5344CB8AC3E}">
        <p14:creationId xmlns:p14="http://schemas.microsoft.com/office/powerpoint/2010/main" val="806340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24CF4F-2187-4776-96FF-36A35E9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B3CF8-2D98-4EE6-9326-27A8A290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ENEMY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8E789-62DB-4AEA-95BE-CAE1954E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55457-3F49-4F88-86E1-6656D52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851B7-B45C-4F38-875A-65E45E3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PROCESSENEMYTURN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8E6368D-3E2F-47D9-91D7-128A4BF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턴은 일곱 단계로 연출된다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6F2A0-BFEF-4831-B967-F20A5FC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29D9-C04C-4961-8E34-13BDC737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FC81C-9067-4A8D-8FB7-BE850C7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2758B-B20F-4610-A8BC-02F18D1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FocusOnAndWait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927B2-BA73-4753-B448-8F6D84D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A9868-CDD7-45AF-A902-6E826648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21068-3D9C-4625-96B4-F9AFA71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E6A8B-FA8B-44A2-86CE-99B87EDF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7BC8F-BAE8-4B20-BFC2-2A0C3F0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24A68-B8EA-4588-AC33-E97CD6B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A5AB8-2B66-4FA6-9FC0-AFFC8A4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58A86-4197-440A-BB96-FCCF16A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ABE78-1382-4C10-B209-2245390D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D946F-3265-4FE6-AD91-601FEDC3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ShowPathAnimated 0.3s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2836D-F358-40D0-A274-A1972468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5C43B-32F2-45AF-87A4-F95DD18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F1F8B-81A6-45F9-8CF9-EC4C6CB6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AB227-4245-46C2-91FE-8512F9E6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6EC8D-B783-423E-9933-BDC01B1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0.2s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28484-1A02-4169-99B0-5B4C8EAA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FC3C7-66D0-445D-9632-0E23A90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8BB6C-E557-41B3-B966-66F7FEC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MOVE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7E0A4-9C37-40BD-A500-78CC8E01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0.4–1.5s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0BE31-83D4-4CB6-87BA-B30D729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20D3C-59A9-4311-99D8-D98F753E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A9F7E-7FA3-4ACB-8A88-02F584A9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4059D8-9026-4DF4-949C-0A5CCF11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CLEAR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A21FA-F6D0-4478-A17C-47B9135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화살표 제거 · 0.1s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E27509-3640-4C5B-80C0-24F972BC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F10D01-A0FA-4798-929B-6FD12E00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1B2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F5D3D-268E-4220-BD7B-927CB40F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64B9BB-8644-4B4F-913D-B7707207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ATTACK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6D014-BE4A-4388-B1AD-8446D35C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guard · counter · evasion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D5954C-982C-4E01-A2C2-C72DCE4B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33775"/>
            <a:ext cx="26289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674190-F42A-4260-BB68-208207A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99FC5-0EA1-47C7-8C54-787CFDB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ResetFocus → 0.1s</a:t>
            </a:r>
          </a:p>
          <a:p xmlns:a="http://schemas.openxmlformats.org/drawingml/2006/main">
            <a:pPr>
              <a:def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→ 플레이어 턴 배너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4BA56B-D308-4CFD-B475-412DBA5F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9728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EC17AB-18C1-4094-BB08-73386F1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MOVE DURATION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9B077-EBC3-431B-9353-59EAF63C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435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C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4F8FC"/>
                </a:solidFill>
                <a:latin typeface="Consolas"/>
                <a:ea typeface="Consolas"/>
                <a:cs typeface="Consolas"/>
              </a:rPr>
              <a:t>Clamp((tiles - 1) × 0.25, 0.4, 1.5)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DB2986-FC0C-46F5-A242-DDE2722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72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첫 타일 RemoveUnit → 타일 간 Lerp → 마지막 타일 PlaceUnit · HeightOffset 반영</a:t>
            </a:r>
          </a:p>
        </p:txBody>
      </p:sp>
    </p:spTree>
    <p:extLst>
      <p:ext uri="{BB962C8B-B14F-4D97-AF65-F5344CB8AC3E}">
        <p14:creationId xmlns:p14="http://schemas.microsoft.com/office/powerpoint/2010/main" val="713058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DDD74-8A93-4C76-ABB1-3E9DBE0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2171D-0A88-43C2-AE8B-B11201E4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26418-8495-4441-9093-0B965B29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PART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0BB0F-0B24-485D-931E-B700D40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부대 &amp; 스프라이트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44ADD-076F-449A-B68B-0B2FE43F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ScriptableObject 기반 유닛 구성 · 2D 스프라이트 비주얼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A47AF-23F7-42FF-B7C7-0E22045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0E750-7674-4E94-A466-056454C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a44b1aba24a3b"/>
          <a:stretch xmlns:a="http://schemas.openxmlformats.org/drawingml/2006/main"/>
        </p:blipFill>
        <p:spPr>
          <a:xfrm xmlns:a="http://schemas.openxmlformats.org/drawingml/2006/main">
            <a:off x="7620000" y="1883085"/>
            <a:ext cx="3714750" cy="33013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24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2CBAA-5B4A-4818-B528-2007B538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5C0B-1A23-4256-ABB4-548246E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SQUAD &amp; SPRITE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EEFE-C5FF-4931-8051-42EB410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37574-A21B-4021-93F1-A6764B5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4C9CC-FA22-4E12-B2C0-8561000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ENEMYSQUADDATA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751B4D0-9419-4BD6-88AB-28E2D4A0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스쿼드 데이터로 적을 구성한다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9628F-9C4F-41B0-B5CC-A6FE1CA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0005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3ABFA-DAD3-4407-A3DC-3F57EA18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7BB5-CF17-4CB8-AA17-EA3AC78F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619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[System.Serializable]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public class SquadMember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EnemyUnitData unit;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int count;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Vector2Int[] preferredCells;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Unit.Create(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Team.Enemy, pos, enemyPrefab,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member.unit, defaultEnemySprite);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11829-6D22-4959-B317-9FB468E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B34F-5296-43BF-BEEA-CCC9424F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SQUAD_01_순찰반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b90fd53c54a89"/>
          <a:stretch xmlns:a="http://schemas.openxmlformats.org/drawingml/2006/main"/>
        </p:blipFill>
        <p:spPr>
          <a:xfrm xmlns:a="http://schemas.openxmlformats.org/drawingml/2006/main">
            <a:off x="5143500" y="2672373"/>
            <a:ext cx="1190625" cy="751255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3443fbb1b420c"/>
          <a:stretch xmlns:a="http://schemas.openxmlformats.org/drawingml/2006/main"/>
        </p:blipFill>
        <p:spPr>
          <a:xfrm xmlns:a="http://schemas.openxmlformats.org/drawingml/2006/main">
            <a:off x="6683747" y="2400300"/>
            <a:ext cx="805706" cy="1285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2E734-2354-46D5-ACB5-45D01CB6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순찰병 ×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36485-D018-480C-9F86-3E20568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돌격병 ×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F5A5C-84DE-46BE-9250-6461926C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9575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SO가 있으면 구성대로 생성</a:t>
            </a:r>
          </a:p>
          <a:p xmlns:a="http://schemas.openxmlformats.org/drawingml/2006/main">
            <a:pPr algn="ctr"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없으면 generic 적을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BA477-C144-478C-9121-163476C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194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B718E-89F3-456E-A465-566FC3C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SPRITE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B9D2E-81F8-4BC9-A48C-5B26820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243B60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35EAC-E546-4E91-B17F-EF82A08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CharacterData.BattleSprite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52B24-A94A-4D34-8C00-521F930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58000-4E63-4400-B9E2-0A1475F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194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unit.battleSprite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C814E-6B68-4D60-B3EC-5ECC03BF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5F1B8-4AFA-4433-A8BE-A79BA7C6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956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fallback Sprite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34950-F254-4299-A09E-C601A5C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7B3EA-970C-4093-BED0-14115E6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719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5E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5E68"/>
                </a:solidFill>
                <a:latin typeface="Malgun Gothic"/>
                <a:ea typeface="Malgun Gothic"/>
                <a:cs typeface="Malgun Gothic"/>
              </a:rPr>
              <a:t>null / red cube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43A63-0579-4193-AD75-7442AC1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09728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1A131-1B65-4A81-858F-5E0497B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EDITOR TOOL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7F783-4666-408B-82DF-8CBF822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Tools &gt; 적 유닛 스프라이트 강제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A6DD6-2A79-4778-9E0F-E1D5C197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이름으로 Sprite와 EnemyUnitData를 매칭 · SetupSpriteVisual이 Quad + 2D Billboard로 변환</a:t>
            </a:r>
          </a:p>
        </p:txBody>
      </p:sp>
    </p:spTree>
    <p:extLst>
      <p:ext uri="{BB962C8B-B14F-4D97-AF65-F5344CB8AC3E}">
        <p14:creationId xmlns:p14="http://schemas.microsoft.com/office/powerpoint/2010/main" val="9791590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D9BA-3AE5-439C-BF86-B2F52581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94D31-9E28-40BD-8C87-C06CC83C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AF9B3-025C-4DBA-9674-24A91BE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PART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C7B13-264F-4C7C-869C-508CFBD3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승리 · 패배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14190-0F43-4242-82C3-57DC482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배틀 결과 판정 · 배너 연출 · 스테이지 진행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059FC-7243-41E9-B2D1-A98BF33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9B8CB-68B8-4FF4-9073-90DCF24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61d48545d4fe0"/>
          <a:stretch xmlns:a="http://schemas.openxmlformats.org/drawingml/2006/main"/>
        </p:blipFill>
        <p:spPr>
          <a:xfrm xmlns:a="http://schemas.openxmlformats.org/drawingml/2006/main">
            <a:off x="7620000" y="1813244"/>
            <a:ext cx="3714750" cy="34410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20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78E96-2139-4BD5-9B71-7586071E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4029B-5672-4890-B9CD-ABFE0524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BATTLE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2514C-ACB5-4D91-960A-48E7579F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1ED5-F73A-47EE-9237-E9E6E93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4ACCB-7825-4A7E-A2AD-637197C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CHECKBATTLEEND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9450157-A8E2-4078-B9F3-6385FFF3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전투가 끝나는 순간을 판정한다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36411-56BF-4797-BA7A-75F222D6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E654-6049-4C11-B30B-CBB9D6F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ATTACK RESOLVED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AAD78-CA4F-470F-AA86-5F50369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81200"/>
            <a:ext cx="798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공격 처리 직후 살아 있는 플레이어와 적 유닛 수를 다시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D9784-9D65-4FD2-9798-2CF7CFD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6096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18F4A-D44C-4052-BC02-3C3E591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2197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B6179-DCF4-4B8B-8C35-4B33FA1E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CFE35-0E09-4606-9027-BD79CA9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8CD7C-45CB-4A41-B4E1-7C2F6D33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VICTORY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90D0A-F715-462B-AC9B-C28CD5B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762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적 생존 수 = 0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BattleResult → 승리 메시지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UnlockNextStage() → ShowVictory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F9368-68B2-4DEB-B0A9-04A7F3E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197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6C03A-372F-4BE8-AC1C-ED9FBF2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5290E-B153-497C-BB9E-6592E8D4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5E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5E6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D1EC4-C2A5-4D05-8FDA-9546787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052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DEFEAT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37116-60AF-46FB-B981-EF08091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762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플레이어 생존 수 = 0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BattleResult → 패배 메시지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ShowDefeat · 스테이지 해금 없음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B5558-A938-4112-AD33-E8E9C77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1049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1F17"/>
          </a:solidFill>
          <a:ln xmlns:a="http://schemas.openxmlformats.org/drawingml/2006/main" w="9525">
            <a:solidFill>
              <a:srgbClr val="FF9C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6740E-1C9D-492C-885B-988F634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C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9C4A"/>
                </a:solidFill>
                <a:latin typeface="Consolas"/>
                <a:ea typeface="Consolas"/>
                <a:cs typeface="Consolas"/>
              </a:rPr>
              <a:t>yield break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368E8-C2CA-4DDD-BFA4-5191E9AA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결과가 확정되면 남은 코루틴 행동을 즉시 중단한다.</a:t>
            </a:r>
          </a:p>
        </p:txBody>
      </p:sp>
    </p:spTree>
    <p:extLst>
      <p:ext uri="{BB962C8B-B14F-4D97-AF65-F5344CB8AC3E}">
        <p14:creationId xmlns:p14="http://schemas.microsoft.com/office/powerpoint/2010/main" val="701549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E44F-F119-480B-AA73-64E0188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D150D-FEC2-4DE4-866F-03E6F64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6ECFB-D014-4595-9CD1-6984BA1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B0326-2019-4E48-BB56-37917029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7B867-0DD9-4074-BB83-46DB504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DESIGN PRINCIPLE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14FF8C-D093-48F2-B2EC-312AEB34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네 파트를 관통하는 원칙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F9A4D-83A7-4300-B82E-24F1C8D0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490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32D3A"/>
          </a:solidFill>
          <a:ln xmlns:a="http://schemas.openxmlformats.org/drawingml/2006/main" w="9525">
            <a:solidFill>
              <a:srgbClr val="3B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BE2AD-A78F-4B1B-9D33-7320BEF1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“보이지 않던 것을 보이게 만든다”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295275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83000"/>
                <a:gridCol w="3683000"/>
                <a:gridCol w="3683000"/>
              </a:tblGrid>
              <a:tr h="4953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후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동적 포커스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 이동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순간 이동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기반 시퀀스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부대 &amp; 스프라이트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큐브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 기반 비주얼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승리 · 패배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판정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C0684-F9C3-4462-B65B-344334EE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KEY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B3ECC-A284-483E-B16D-6A536D4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947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CameraController.cs  ·  PathArrowRenderer.cs  ·  Unit.cs  ·  EnemySpriteLinker.cs  ·  Enemy/Squads/*.asset</a:t>
            </a:r>
          </a:p>
        </p:txBody>
      </p:sp>
    </p:spTree>
    <p:extLst>
      <p:ext uri="{BB962C8B-B14F-4D97-AF65-F5344CB8AC3E}">
        <p14:creationId xmlns:p14="http://schemas.microsoft.com/office/powerpoint/2010/main" val="32802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2026-09-11T06:48:27.9320000Z</dcterms:created>
  <dcterms:modified xsi:type="dcterms:W3CDTF">2026-09-11T06:48:27.9320000Z</dcterms:modified>
</coreProperties>
</file>