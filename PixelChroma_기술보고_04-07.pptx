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65C4"/>
                </a:solidFill>
                <a:latin typeface="Consolas"/>
              </a:defRPr>
            </a:pPr>
            <a:r>
              <a:t>UNITY 6 · GRID TACTICS · 기술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D21"/>
                </a:solidFill>
                <a:latin typeface="맑은 고딕"/>
              </a:defRPr>
            </a:pPr>
            <a:r>
              <a:t>PixelChroma</a:t>
            </a:r>
            <a:br/>
            <a:r>
              <a:t>추가 작업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058"/>
                </a:solidFill>
                <a:latin typeface="맑은 고딕"/>
              </a:defRPr>
            </a:pPr>
            <a:r>
              <a:t>카메라 연출 · 적 이동 시퀀스 · 부대 스프라이트 · 승리/패배 판정.</a:t>
            </a:r>
            <a:br/>
            <a:r>
              <a:t>2026-08 이후 추가된 네 파트의 구현 방식을 정리했습니다.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  <a:latin typeface="Consolas"/>
              </a:defRPr>
            </a:pPr>
            <a:r>
              <a:t>Unity 6000.3.10f1    |    5 × 6 Grid    |    Portrait / Mobile    |    2026-09-11 작성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29A"/>
                </a:solidFill>
                <a:latin typeface="Consola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65C4"/>
                </a:solidFill>
                <a:latin typeface="Consolas"/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D21"/>
                </a:solidFill>
                <a:latin typeface="맑은 고딕"/>
              </a:defRPr>
            </a:pPr>
            <a:r>
              <a:t>다루는 내용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058"/>
                </a:solidFill>
                <a:latin typeface="맑은 고딕"/>
              </a:defRPr>
            </a:pPr>
            <a:r>
              <a:t>각 파트는 "무엇이 문제였고, 어떤 구조로 풀었는가" 순서로 구성됩니다.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10515600" cy="12700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8659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423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D21"/>
                </a:solidFill>
                <a:latin typeface="맑은 고딕"/>
              </a:defRPr>
            </a:pPr>
            <a:r>
              <a:t>카메라 연출 — 포커스 줌 · 건물 페이드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788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058"/>
                </a:solidFill>
                <a:latin typeface="맑은 고딕"/>
              </a:defRPr>
            </a:pPr>
            <a:r>
              <a:t>턴 전환 시 유닛을 줌인하고, 카메라에 닿는 건물을 투명화하는 시야 확보 시스템.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10515600" cy="12700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53030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429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D21"/>
                </a:solidFill>
                <a:latin typeface="맑은 고딕"/>
              </a:defRPr>
            </a:pPr>
            <a:r>
              <a:t>적 이동 연출 — 경로 화살표 · 타일 이동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794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058"/>
                </a:solidFill>
                <a:latin typeface="맑은 고딕"/>
              </a:defRPr>
            </a:pPr>
            <a:r>
              <a:t>Bezier 곡선 경로 화살표와 슬라이드 드로잉 애니메이션, 타일 단위 Lerp 이동.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97680"/>
            <a:ext cx="10515600" cy="12700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8860B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434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D21"/>
                </a:solidFill>
                <a:latin typeface="맑은 고딕"/>
              </a:defRPr>
            </a:pPr>
            <a:r>
              <a:t>부대 &amp; 스프라이트 — SO 기반 유닛 비주얼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800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058"/>
                </a:solidFill>
                <a:latin typeface="맑은 고딕"/>
              </a:defRPr>
            </a:pPr>
            <a:r>
              <a:t>EnemySquadData로 부대를 구성하고, CharacterData.BattleSprite로 2D 스프라이트를 표시.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03520"/>
            <a:ext cx="10515600" cy="12700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440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8659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440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D21"/>
                </a:solidFill>
                <a:latin typeface="맑은 고딕"/>
              </a:defRPr>
            </a:pPr>
            <a:r>
              <a:t>승리 · 패배 — 배틀 결과 시퀀스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806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058"/>
                </a:solidFill>
                <a:latin typeface="맑은 고딕"/>
              </a:defRPr>
            </a:pPr>
            <a:r>
              <a:t>전투 종료 판정, 결과 배너 연출, 스테이지 해금 진행.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29A"/>
                </a:solidFill>
                <a:latin typeface="Consola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8659"/>
                </a:solidFill>
                <a:latin typeface="Consolas"/>
              </a:defRPr>
            </a:pPr>
            <a: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1A1D21"/>
                </a:solidFill>
                <a:latin typeface="맑은 고딕"/>
              </a:defRPr>
            </a:pPr>
            <a:r>
              <a:t>카메라 연출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058"/>
                </a:solidFill>
                <a:latin typeface="맑은 고딕"/>
              </a:defRPr>
            </a:pPr>
            <a:r>
              <a:t>포커스 줌 · 건물 페이드 ·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29A"/>
                </a:solidFill>
                <a:latin typeface="Consola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8659"/>
                </a:solidFill>
                <a:latin typeface="Consolas"/>
              </a:defRPr>
            </a:pPr>
            <a:r>
              <a:t>04 · 카메라 연출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D21"/>
                </a:solidFill>
                <a:latin typeface="맑은 고딕"/>
              </a:defRPr>
            </a:pPr>
            <a:r>
              <a:t>턴 전환마다 유닛을 줌인한다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058"/>
                </a:solidFill>
                <a:latin typeface="맑은 고딕"/>
              </a:defRPr>
            </a:pPr>
            <a:r>
              <a:t>CameraController.FocusOn()은 카메라를 유닛 위치로 이동하면서 FOV를 줄여 줌인 효과를 만듭니다.</a:t>
            </a:r>
            <a:br/>
            <a:r>
              <a:t>SmoothStep 보간으로 부드럽게 전환됩니다.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6400800" cy="32004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6035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058"/>
                </a:solidFill>
                <a:latin typeface="Consolas"/>
              </a:defRPr>
            </a:pPr>
            <a:r>
              <a:t>// CameraController.cs</a:t>
            </a:r>
            <a:br/>
            <a:r>
              <a:t>public void FocusOn(Vector3 worldPosition)</a:t>
            </a:r>
            <a:br/>
            <a:r>
              <a:t>{</a:t>
            </a:r>
            <a:br/>
            <a:r>
              <a:t>    Vector3 offset = cam.transform.position</a:t>
            </a:r>
            <a:br/>
            <a:r>
              <a:t>        - GetCurrentGroundFocus();</a:t>
            </a:r>
            <a:br/>
            <a:r>
              <a:t>    focusTargetPos = worldPosition + offset;</a:t>
            </a:r>
            <a:br/>
            <a:r>
              <a:t>    focusTargetPos.y = cam.transform.position.y;</a:t>
            </a:r>
            <a:br/>
            <a:br/>
            <a:r>
              <a:t>    focusStartPos = cam.transform.position;</a:t>
            </a:r>
            <a:br/>
            <a:r>
              <a:t>    focusStartFOV = cam.fieldOfView;</a:t>
            </a:r>
            <a:br/>
            <a:r>
              <a:t>    targetFOV = focusZoomFOV;  // 38°</a:t>
            </a:r>
            <a:br/>
            <a:r>
              <a:t>    focusLerp = 0f;</a:t>
            </a:r>
            <a:br/>
            <a:r>
              <a:t>    isFocusing = true;</a:t>
            </a:r>
            <a:br/>
            <a:r>
              <a:t>}</a:t>
            </a:r>
            <a:br/>
            <a:br/>
            <a:r>
              <a:t>// UpdateFocus() — 매 프레임</a:t>
            </a:r>
            <a:br/>
            <a:r>
              <a:t>float t = Mathf.SmoothStep(0f, 1f, focusLerp);</a:t>
            </a:r>
            <a:br/>
            <a:r>
              <a:t>cam.transform.position</a:t>
            </a:r>
            <a:br/>
            <a:r>
              <a:t>    = Vector3.Lerp(focusStartPos, focusTargetPos, t);</a:t>
            </a:r>
            <a:br/>
            <a:r>
              <a:t>cam.fieldOfView</a:t>
            </a:r>
            <a:br/>
            <a:r>
              <a:t>    = Mathf.Lerp(focusStartFOV, targetFOV, t);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011680"/>
            <a:ext cx="4114800" cy="9144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2D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210312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8659"/>
                </a:solidFill>
                <a:latin typeface="Consolas"/>
              </a:defRPr>
            </a:pPr>
            <a:r>
              <a:t>FOCUSONANDWAIT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774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코루틴 래퍼. yield return FocusOnAndWait(pos) 한 줄로</a:t>
            </a:r>
            <a:br/>
            <a:r>
              <a:t>포커스 완료까지 대기합니다.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108960"/>
            <a:ext cx="4114800" cy="9144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2D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320040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8659"/>
                </a:solidFill>
                <a:latin typeface="Consolas"/>
              </a:defRPr>
            </a:pPr>
            <a:r>
              <a:t>RESETFOCUS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4747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FOV를 기본값으로 복원하고 카메라를 원래 위치로</a:t>
            </a:r>
            <a:br/>
            <a:r>
              <a:t>되돌립니다. 적 행동이 끝난 후 호출.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42976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8659"/>
                </a:solidFill>
                <a:latin typeface="Consolas"/>
              </a:defRPr>
            </a:pPr>
            <a:r>
              <a:t>38°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754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  <a:latin typeface="맑은 고딕"/>
              </a:defRPr>
            </a:pPr>
            <a:r>
              <a:t>줌인 FOV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42976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8659"/>
                </a:solidFill>
                <a:latin typeface="Consolas"/>
              </a:defRPr>
            </a:pPr>
            <a:r>
              <a:t>0.35s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4754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  <a:latin typeface="맑은 고딕"/>
              </a:defRPr>
            </a:pPr>
            <a:r>
              <a:t>전환 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42976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8659"/>
                </a:solidFill>
                <a:latin typeface="Consolas"/>
              </a:defRPr>
            </a:pPr>
            <a:r>
              <a:t>8f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4754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  <a:latin typeface="맑은 고딕"/>
              </a:defRPr>
            </a:pPr>
            <a:r>
              <a:t>추적 감쇠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29A"/>
                </a:solidFill>
                <a:latin typeface="Consola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8659"/>
                </a:solidFill>
                <a:latin typeface="Consolas"/>
              </a:defRPr>
            </a:pPr>
            <a:r>
              <a:t>04 · 카메라 연출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D21"/>
                </a:solidFill>
                <a:latin typeface="맑은 고딕"/>
              </a:defRPr>
            </a:pPr>
            <a:r>
              <a:t>카메라에 닿는 건물은 투명해진다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058"/>
                </a:solidFill>
                <a:latin typeface="맑은 고딕"/>
              </a:defRPr>
            </a:pPr>
            <a:r>
              <a:t>2.5D 탑뷰에서 카메라 경로에 건물이 끼면 유닛이 가려집니다.</a:t>
            </a:r>
            <a:br/>
            <a:r>
              <a:t>OverlapSphere로 접촉을 감지하고, 머티리얼 알파를 실시간으로 낮춥니다.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943600" cy="256032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058"/>
                </a:solidFill>
                <a:latin typeface="Consolas"/>
              </a:defRPr>
            </a:pPr>
            <a:r>
              <a:t>// UpdateBuildingVisibility() — LateUpdate</a:t>
            </a:r>
            <a:br/>
            <a:r>
              <a:t>int hitCount = Physics.OverlapSphereNonAlloc(</a:t>
            </a:r>
            <a:br/>
            <a:r>
              <a:t>    transform.position,</a:t>
            </a:r>
            <a:br/>
            <a:r>
              <a:t>    buildingContactRadius,  // 0.75f</a:t>
            </a:r>
            <a:br/>
            <a:r>
              <a:t>    buildingContactBuffer,</a:t>
            </a:r>
            <a:br/>
            <a:r>
              <a:t>    buildingContactMask);</a:t>
            </a:r>
            <a:br/>
            <a:br/>
            <a:r>
              <a:t>// 접촉 중 → 알파를 fadeAlpha(0.2f)로 이동</a:t>
            </a:r>
            <a:br/>
            <a:r>
              <a:t>// 접촉 해제 → 알파를 1f로 복원</a:t>
            </a:r>
            <a:br/>
            <a:r>
              <a:t>float targetAlpha = touching</a:t>
            </a:r>
            <a:br/>
            <a:r>
              <a:t>    ? buildingFadeAlpha : 1f;</a:t>
            </a:r>
            <a:br/>
            <a:r>
              <a:t>pair.Value.MoveTowards(</a:t>
            </a:r>
            <a:br/>
            <a:r>
              <a:t>    targetAlpha, fadeSpeed * Time.deltaTime);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8659"/>
                </a:solidFill>
                <a:latin typeface="맑은 고딕"/>
              </a:defRPr>
            </a:pPr>
            <a:r>
              <a:t>● BuildingFadeState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건물 루트의 모든 Renderer를 순회해 머티리얼을 복제.</a:t>
            </a:r>
            <a:br/>
            <a:r>
              <a:t>Transparent 렌더 모드로 전환하고 _BaseColor 알파를 조절.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8659"/>
                </a:solidFill>
                <a:latin typeface="맑은 고딕"/>
              </a:defRPr>
            </a:pPr>
            <a:r>
              <a:t>● 자동 복원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접촉이 끝나면 알파가 1.0으로 돌아가고, 완전 복원 시</a:t>
            </a:r>
            <a:br/>
            <a:r>
              <a:t>원본 머티리얼을 되돌려 인스턴스를 Destroy.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2011680"/>
            <a:ext cx="4389120" cy="10972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2103120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929A"/>
                </a:solidFill>
                <a:latin typeface="Consolas"/>
              </a:defRPr>
            </a:pPr>
            <a:r>
              <a:t>FINDBUILDINGROOТ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37744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충돌 Collider에서 부모를 타고 올라가며 이름에</a:t>
            </a:r>
            <a:br/>
            <a:r>
              <a:t>building, apartment, skyscraper가 포함된</a:t>
            </a:r>
            <a:br/>
            <a:r>
              <a:t>Transform을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291840"/>
            <a:ext cx="4389120" cy="10972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3383280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929A"/>
                </a:solidFill>
                <a:latin typeface="Consolas"/>
              </a:defRPr>
            </a:pPr>
            <a:r>
              <a:t>URP 투명 전환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65760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_Surface=1, _SrcBlend=SrcAlpha,</a:t>
            </a:r>
            <a:br/>
            <a:r>
              <a:t>_DstBlend=OneMinusSrcAlpha, _ZWrite=0,</a:t>
            </a:r>
            <a:br/>
            <a:r>
              <a:t>RenderQueue=Transparent로 설정.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572000"/>
            <a:ext cx="4389120" cy="10972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4663440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929A"/>
                </a:solidFill>
                <a:latin typeface="Consolas"/>
              </a:defRPr>
            </a:pPr>
            <a:r>
              <a:t>성능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93776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OverlapSphereNonAlloc으로 GC 없는 충돌 검사.</a:t>
            </a:r>
            <a:br/>
            <a:r>
              <a:t>버퍼 크기 64. LateUpdate에서 실행.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29A"/>
                </a:solidFill>
                <a:latin typeface="Consola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53030"/>
                </a:solidFill>
                <a:latin typeface="Consolas"/>
              </a:defRPr>
            </a:pPr>
            <a:r>
              <a:t>PART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1A1D21"/>
                </a:solidFill>
                <a:latin typeface="맑은 고딕"/>
              </a:defRPr>
            </a:pPr>
            <a:r>
              <a:t>적 이동 연출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058"/>
                </a:solidFill>
                <a:latin typeface="맑은 고딕"/>
              </a:defRPr>
            </a:pPr>
            <a:r>
              <a:t>경로 화살표 · Bezier 곡선 · 타일 이동 애니메이션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29A"/>
                </a:solidFill>
                <a:latin typeface="Consola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53030"/>
                </a:solidFill>
                <a:latin typeface="Consolas"/>
              </a:defRPr>
            </a:pPr>
            <a:r>
              <a:t>05 · 적 이동 연출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D21"/>
                </a:solidFill>
                <a:latin typeface="맑은 고딕"/>
              </a:defRPr>
            </a:pPr>
            <a:r>
              <a:t>경로를 화살표로 그린다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058"/>
                </a:solidFill>
                <a:latin typeface="맑은 고딕"/>
              </a:defRPr>
            </a:pPr>
            <a:r>
              <a:t>PathArrowRenderer는 A*가 찾은 경로를 굵은 빨간 선 + 삼각형 화살촉으로 그리드 위에 시각화합니다.</a:t>
            </a:r>
            <a:br/>
            <a:r>
              <a:t>직각 꺾임은 Quadratic Bezier로 부드럽게 처리됩니다.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6400800" cy="301752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058"/>
                </a:solidFill>
                <a:latin typeface="Consolas"/>
              </a:defRPr>
            </a:pPr>
            <a:r>
              <a:t>// BuildSmoothPath() — 꺾임을 곡선으로</a:t>
            </a:r>
            <a:br/>
            <a:r>
              <a:t>float dot = Vector3.Dot(dirIn, dirOut);</a:t>
            </a:r>
            <a:br/>
            <a:r>
              <a:t>if (dot &gt; 0.99f)     // 직선 → 그대로</a:t>
            </a:r>
            <a:br/>
            <a:r>
              <a:t>{</a:t>
            </a:r>
            <a:br/>
            <a:r>
              <a:t>    result.Add(curr);</a:t>
            </a:r>
            <a:br/>
            <a:r>
              <a:t>    continue;</a:t>
            </a:r>
            <a:br/>
            <a:r>
              <a:t>}</a:t>
            </a:r>
            <a:br/>
            <a:br/>
            <a:r>
              <a:t>// Quadratic Bezier</a:t>
            </a:r>
            <a:br/>
            <a:r>
              <a:t>// P(t) = lerp(lerp(A,B,t), lerp(B,C,t), t)</a:t>
            </a:r>
            <a:br/>
            <a:r>
              <a:t>Vector3 curveStart = curr - dirIn * radius;</a:t>
            </a:r>
            <a:br/>
            <a:r>
              <a:t>Vector3 curveEnd   = curr + dirOut * radius;</a:t>
            </a:r>
            <a:br/>
            <a:br/>
            <a:r>
              <a:t>for (int s = 0; s &lt;= CurveSegments; s++)</a:t>
            </a:r>
            <a:br/>
            <a:r>
              <a:t>{</a:t>
            </a:r>
            <a:br/>
            <a:r>
              <a:t>    float t = (float)s / CurveSegments;</a:t>
            </a:r>
            <a:br/>
            <a:r>
              <a:t>    Vector3 a = Vector3.Lerp(curveStart, curr, t);</a:t>
            </a:r>
            <a:br/>
            <a:r>
              <a:t>    Vector3 b = Vector3.Lerp(curr, curveEnd, t);</a:t>
            </a:r>
            <a:br/>
            <a:r>
              <a:t>    result.Add(Vector3.Lerp(a, b, t));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011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929A"/>
                </a:solidFill>
                <a:latin typeface="Consolas"/>
              </a:defRPr>
            </a:pPr>
            <a:r>
              <a:t>상수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377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D21"/>
                </a:solidFill>
                <a:latin typeface="Consolas"/>
              </a:defRPr>
            </a:pPr>
            <a:r>
              <a:t>PathWidth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2377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860B"/>
                </a:solidFill>
                <a:latin typeface="Consolas"/>
              </a:defRPr>
            </a:pPr>
            <a:r>
              <a:t>0.35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058"/>
                </a:solidFill>
                <a:latin typeface="맑은 고딕"/>
              </a:defRPr>
            </a:pPr>
            <a:r>
              <a:t>LineRenderer 선 두께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697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D21"/>
                </a:solidFill>
                <a:latin typeface="Consolas"/>
              </a:defRPr>
            </a:pPr>
            <a:r>
              <a:t>HeadWidth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2697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860B"/>
                </a:solidFill>
                <a:latin typeface="Consolas"/>
              </a:defRPr>
            </a:pPr>
            <a:r>
              <a:t>0.55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697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058"/>
                </a:solidFill>
                <a:latin typeface="맑은 고딕"/>
              </a:defRPr>
            </a:pPr>
            <a:r>
              <a:t>삼각형 화살촉 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017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D21"/>
                </a:solidFill>
                <a:latin typeface="Consolas"/>
              </a:defRPr>
            </a:pPr>
            <a:r>
              <a:t>HeadLength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017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860B"/>
                </a:solidFill>
                <a:latin typeface="Consolas"/>
              </a:defRPr>
            </a:pPr>
            <a:r>
              <a:t>0.45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17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058"/>
                </a:solidFill>
                <a:latin typeface="맑은 고딕"/>
              </a:defRPr>
            </a:pPr>
            <a:r>
              <a:t>화살촉 길이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337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D21"/>
                </a:solidFill>
                <a:latin typeface="Consolas"/>
              </a:defRPr>
            </a:pPr>
            <a:r>
              <a:t>CurveSegments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3375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860B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3337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058"/>
                </a:solidFill>
                <a:latin typeface="맑은 고딕"/>
              </a:defRPr>
            </a:pPr>
            <a:r>
              <a:t>꺾임당 보간 포인트 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657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D21"/>
                </a:solidFill>
                <a:latin typeface="Consolas"/>
              </a:defRPr>
            </a:pPr>
            <a:r>
              <a:t>CurveRadius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8860B"/>
                </a:solidFill>
                <a:latin typeface="Consolas"/>
              </a:defRPr>
            </a:pPr>
            <a:r>
              <a:t>0.35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058"/>
                </a:solidFill>
                <a:latin typeface="맑은 고딕"/>
              </a:defRPr>
            </a:pPr>
            <a:r>
              <a:t>곡선 반지름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4114800"/>
            <a:ext cx="4114800" cy="9144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420624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53030"/>
                </a:solidFill>
                <a:latin typeface="Consolas"/>
              </a:defRPr>
            </a:pPr>
            <a:r>
              <a:t>슬라이드 드로잉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4805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ShowPathAnimated()은 0.3초에 걸쳐 시작점부터</a:t>
            </a:r>
            <a:br/>
            <a:r>
              <a:t>끝점까지 선을 점진적으로 그립니다.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5212080"/>
            <a:ext cx="4114800" cy="73152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530352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53030"/>
                </a:solidFill>
                <a:latin typeface="Consolas"/>
              </a:defRPr>
            </a:pPr>
            <a:r>
              <a:t>화살촉 · MESH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577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삼각형 Mesh를 직접 생성. LookRotation으로</a:t>
            </a:r>
            <a:br/>
            <a:r>
              <a:t>화살촉이 이동 방향을 가리킵니다.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29A"/>
                </a:solidFill>
                <a:latin typeface="Consola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53030"/>
                </a:solidFill>
                <a:latin typeface="Consolas"/>
              </a:defRPr>
            </a:pPr>
            <a:r>
              <a:t>05 · 적 이동 연출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D21"/>
                </a:solidFill>
                <a:latin typeface="맑은 고딕"/>
              </a:defRPr>
            </a:pPr>
            <a:r>
              <a:t>적 턴의 전체 시퀀스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058"/>
                </a:solidFill>
                <a:latin typeface="맑은 고딕"/>
              </a:defRPr>
            </a:pPr>
            <a:r>
              <a:t>ProcessEnemyTurn()이 적 유닛마다 아래 시퀀스를 실행합니다. 각 단계 사이에 딜레이를 넣어 플레이어가 상황을 파악할 여유를 줍니다.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029200" cy="12700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D21"/>
                </a:solidFill>
                <a:latin typeface="맑은 고딕"/>
              </a:defRPr>
            </a:pPr>
            <a:r>
              <a:t>카메라 포커스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FocusOnAndWait(enemy.position)</a:t>
            </a:r>
            <a:br/>
            <a:r>
              <a:t>해당 적에게 카메라가 줌인됩니다.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5029200" cy="12700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929A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D21"/>
                </a:solidFill>
                <a:latin typeface="맑은 고딕"/>
              </a:defRPr>
            </a:pPr>
            <a:r>
              <a:t>0.2초 대기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291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포커스 완료 후 잠시 정지.</a:t>
            </a:r>
            <a:br/>
            <a:r>
              <a:t>플레이어가 어떤 적이 움직일지 인지합니다.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029200" cy="12700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53030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D21"/>
                </a:solidFill>
                <a:latin typeface="맑은 고딕"/>
              </a:defRPr>
            </a:pPr>
            <a:r>
              <a:t>화살표 드로잉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297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ShowPathAnimated(path, 0.3s)</a:t>
            </a:r>
            <a:br/>
            <a:r>
              <a:t>경로가 시작점부터 슬라이드로 그려집니다.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937760"/>
            <a:ext cx="5029200" cy="12700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929A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D21"/>
                </a:solidFill>
                <a:latin typeface="맑은 고딕"/>
              </a:defRPr>
            </a:pPr>
            <a:r>
              <a:t>0.2초 대기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303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화살표 완성 후 정지.</a:t>
            </a:r>
            <a:br/>
            <a:r>
              <a:t>경로를 확인할 시간을 줍니다.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920240"/>
            <a:ext cx="5029200" cy="12700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8860B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D21"/>
                </a:solidFill>
                <a:latin typeface="맑은 고딕"/>
              </a:defRPr>
            </a:pPr>
            <a:r>
              <a:t>타일 이동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MoveAlongPath(path, duration)</a:t>
            </a:r>
            <a:br/>
            <a:r>
              <a:t>유닛이 한 칸씩 Lerp로 이동합니다.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926080"/>
            <a:ext cx="5029200" cy="12700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929A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59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D21"/>
                </a:solidFill>
                <a:latin typeface="맑은 고딕"/>
              </a:defRPr>
            </a:pPr>
            <a:r>
              <a:t>화살표 제거 + 0.1초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59" y="3291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PathArrowRenderer.Clear()</a:t>
            </a:r>
            <a:br/>
            <a:r>
              <a:t>이동 완료 후 화살표를 지우고 짧은 간격.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931920"/>
            <a:ext cx="5029200" cy="12700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4023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53030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59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D21"/>
                </a:solidFill>
                <a:latin typeface="맑은 고딕"/>
              </a:defRPr>
            </a:pPr>
            <a:r>
              <a:t>공격 실행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59" y="4297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사거리 내 아군이 있으면 공격.</a:t>
            </a:r>
            <a:br/>
            <a:r>
              <a:t>가드·반격·회피 스탯이 적용됩니다.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937760"/>
            <a:ext cx="5029200" cy="12700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5029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065C4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59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D21"/>
                </a:solidFill>
                <a:latin typeface="맑은 고딕"/>
              </a:defRPr>
            </a:pPr>
            <a:r>
              <a:t>카메라 리셋 → Player 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59" y="5303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ResetFocus() 후 0.1초, 턴 배너 표시.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  <a:latin typeface="맑은 고딕"/>
              </a:defRPr>
            </a:pPr>
            <a:r>
              <a:t>MoveAlongPath: 경로의 첫 타일에서 RemoveUnit()을 호출하고, 타일 사이를 Lerp로 이동하며, 마지막 타일에서 PlaceUnit()을 호출합니다. HeightOffset을 반영해 고지대를 올라갈 때 높이도 변합니다.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29A"/>
                </a:solidFill>
                <a:latin typeface="Consola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8860B"/>
                </a:solidFill>
                <a:latin typeface="Consolas"/>
              </a:defRPr>
            </a:pPr>
            <a:r>
              <a:t>PART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1A1D21"/>
                </a:solidFill>
                <a:latin typeface="맑은 고딕"/>
              </a:defRPr>
            </a:pPr>
            <a:r>
              <a:t>부대 &amp; 스프라이트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058"/>
                </a:solidFill>
                <a:latin typeface="맑은 고딕"/>
              </a:defRPr>
            </a:pPr>
            <a:r>
              <a:t>ScriptableObject 기반 유닛 구성 · 2D 스프라이트 비주얼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29A"/>
                </a:solidFill>
                <a:latin typeface="Consola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8860B"/>
                </a:solidFill>
                <a:latin typeface="Consolas"/>
              </a:defRPr>
            </a:pPr>
            <a:r>
              <a:t>06 · 부대 &amp; 스프라이트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D21"/>
                </a:solidFill>
                <a:latin typeface="맑은 고딕"/>
              </a:defRPr>
            </a:pPr>
            <a:r>
              <a:t>스쿼드 데이터로 적을 구성한다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058"/>
                </a:solidFill>
                <a:latin typeface="맑은 고딕"/>
              </a:defRPr>
            </a:pPr>
            <a:r>
              <a:t>EnemySquadData는 어떤 적이 몇 명 나오는지를 정의하는 ScriptableObject입니다.</a:t>
            </a:r>
            <a:br/>
            <a:r>
              <a:t>GameManager에 할당하면 SpawnSquadMembers()가 부대원을 생성합니다.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943600" cy="32004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5577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058"/>
                </a:solidFill>
                <a:latin typeface="Consolas"/>
              </a:defRPr>
            </a:pPr>
            <a:r>
              <a:t>// EnemySquadData — 멤버 구조</a:t>
            </a:r>
            <a:br/>
            <a:r>
              <a:t>[System.Serializable]</a:t>
            </a:r>
            <a:br/>
            <a:r>
              <a:t>public class SquadMember</a:t>
            </a:r>
            <a:br/>
            <a:r>
              <a:t>{</a:t>
            </a:r>
            <a:br/>
            <a:r>
              <a:t>    public EnemyUnitData unit;</a:t>
            </a:r>
            <a:br/>
            <a:r>
              <a:t>    public int count;</a:t>
            </a:r>
            <a:br/>
            <a:r>
              <a:t>    public Vector2Int[] preferredCells;</a:t>
            </a:r>
            <a:br/>
            <a:r>
              <a:t>}</a:t>
            </a:r>
            <a:br/>
            <a:br/>
            <a:r>
              <a:t>// GameManager — 분기</a:t>
            </a:r>
            <a:br/>
            <a:r>
              <a:t>if (enemySquad != null)</a:t>
            </a:r>
            <a:br/>
            <a:r>
              <a:t>    SpawnSquadMembers(available);</a:t>
            </a:r>
            <a:br/>
            <a:r>
              <a:t>else</a:t>
            </a:r>
            <a:br/>
            <a:r>
              <a:t>    SpawnGenericEnemies(available);</a:t>
            </a:r>
            <a:br/>
            <a:br/>
            <a:r>
              <a:t>// SpawnSquadMembers — 유닛 생성</a:t>
            </a:r>
            <a:br/>
            <a:r>
              <a:t>Unit enemy = Unit.Create(</a:t>
            </a:r>
            <a:br/>
            <a:r>
              <a:t>    Team.Enemy, pos, enemyPrefab,</a:t>
            </a:r>
            <a:br/>
            <a:r>
              <a:t>    member.unit,        // CharacterData</a:t>
            </a:r>
            <a:br/>
            <a:r>
              <a:t>    defaultEnemySprite  // fallback</a:t>
            </a:r>
            <a:br/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929A"/>
                </a:solidFill>
                <a:latin typeface="Consolas"/>
              </a:defRPr>
            </a:pPr>
            <a:r>
              <a:t>Squad_01_순찰반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15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1"/>
                </a:solidFill>
                <a:latin typeface="맑은 고딕"/>
              </a:defRPr>
            </a:pPr>
            <a:r>
              <a:t>순찰병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715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058"/>
                </a:solidFill>
                <a:latin typeface="Consolas"/>
              </a:defRPr>
            </a:pPr>
            <a:r>
              <a:t>e_patroller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57150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8860B"/>
                </a:solidFill>
                <a:latin typeface="Consolas"/>
              </a:defRPr>
            </a:pPr>
            <a:r>
              <a:t>×2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1"/>
                </a:solidFill>
                <a:latin typeface="맑은 고딕"/>
              </a:defRPr>
            </a:pPr>
            <a:r>
              <a:t>돌격병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5989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058"/>
                </a:solidFill>
                <a:latin typeface="Consolas"/>
              </a:defRPr>
            </a:pPr>
            <a:r>
              <a:t>e_charger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9893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8860B"/>
                </a:solidFill>
                <a:latin typeface="Consolas"/>
              </a:defRPr>
            </a:pPr>
            <a:r>
              <a:t>×1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011680"/>
            <a:ext cx="4389120" cy="73152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103120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860B"/>
                </a:solidFill>
                <a:latin typeface="Consolas"/>
              </a:defRPr>
            </a:pPr>
            <a:r>
              <a:t>스프라이트 파이프라인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3774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Unit.Create()는 세 단계로 스프라이트를 결정합니다: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017520"/>
            <a:ext cx="914400" cy="6400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30632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8860B"/>
                </a:solidFill>
                <a:latin typeface="Consolas"/>
              </a:defRPr>
            </a:pPr>
            <a:r>
              <a:t>CharacterData</a:t>
            </a:r>
            <a:br/>
            <a:r>
              <a:t>.BattleSprite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1546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29A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017520"/>
            <a:ext cx="914400" cy="6400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0632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D21"/>
                </a:solidFill>
                <a:latin typeface="Consolas"/>
              </a:defRPr>
            </a:pPr>
            <a:r>
              <a:t>unit</a:t>
            </a:r>
            <a:br/>
            <a:r>
              <a:t>.battleSprite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1546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29A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3017520"/>
            <a:ext cx="914400" cy="6400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1A1D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30632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D21"/>
                </a:solidFill>
                <a:latin typeface="Consolas"/>
              </a:defRPr>
            </a:pPr>
            <a:r>
              <a:t>fallback</a:t>
            </a:r>
            <a:br/>
            <a:r>
              <a:t>Sprite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315468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29A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61320" y="3017520"/>
            <a:ext cx="914400" cy="6400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0" y="30632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53030"/>
                </a:solidFill>
                <a:latin typeface="Consolas"/>
              </a:defRPr>
            </a:pPr>
            <a:r>
              <a:t>null</a:t>
            </a:r>
            <a:br/>
            <a:r>
              <a:t>빨간 큐브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3931920"/>
            <a:ext cx="4389120" cy="9144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4023360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929A"/>
                </a:solidFill>
                <a:latin typeface="Consolas"/>
              </a:defRPr>
            </a:pPr>
            <a:r>
              <a:t>SETUPSPRITEVISUAL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2976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스프라이트가 결정되면 유닛의 3D 큐브 Renderer 대신</a:t>
            </a:r>
            <a:br/>
            <a:r>
              <a:t>Quad에 스프라이트를 입힌 2D 빌보드를 생성합니다.</a:t>
            </a:r>
            <a:br/>
            <a:r>
              <a:t>그리드의 CellSize에 맞춰 크기를 조절합니다.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0" y="5029200"/>
            <a:ext cx="4389120" cy="9144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5120640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929A"/>
                </a:solidFill>
                <a:latin typeface="Consolas"/>
              </a:defRPr>
            </a:pPr>
            <a:r>
              <a:t>ENEMYSPRITELINKER · 에디터 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3949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Tools &gt; 적 유닛 스프라이트 강제 연결 — 이미지 폴더의</a:t>
            </a:r>
            <a:br/>
            <a:r>
              <a:t>스프라이트를 이름으로 매칭해 모든 EnemyUnitData</a:t>
            </a:r>
            <a:br/>
            <a:r>
              <a:t>에셋의 battleSprite를 자동 설정합니다.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29A"/>
                </a:solidFill>
                <a:latin typeface="Consola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8659"/>
                </a:solidFill>
                <a:latin typeface="Consolas"/>
              </a:defRPr>
            </a:pPr>
            <a:r>
              <a:t>PART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1A1D21"/>
                </a:solidFill>
                <a:latin typeface="맑은 고딕"/>
              </a:defRPr>
            </a:pPr>
            <a:r>
              <a:t>승리 · 패배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058"/>
                </a:solidFill>
                <a:latin typeface="맑은 고딕"/>
              </a:defRPr>
            </a:pPr>
            <a:r>
              <a:t>배틀 결과 판정 · 배너 연출 · 스테이지 진행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29A"/>
                </a:solidFill>
                <a:latin typeface="Consola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8659"/>
                </a:solidFill>
                <a:latin typeface="Consolas"/>
              </a:defRPr>
            </a:pPr>
            <a:r>
              <a:t>07 · 승리 · 패배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D21"/>
                </a:solidFill>
                <a:latin typeface="맑은 고딕"/>
              </a:defRPr>
            </a:pPr>
            <a:r>
              <a:t>전투가 끝나는 순간을 판정한다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058"/>
                </a:solidFill>
                <a:latin typeface="맑은 고딕"/>
              </a:defRPr>
            </a:pPr>
            <a:r>
              <a:t>CheckBattleEnd()는 매 공격 후 호출되어 양 진영의 생존 유닛 수를 확인합니다.</a:t>
            </a:r>
            <a:br/>
            <a:r>
              <a:t>한 쪽이 전멸하면 배틀 결과를 출력하고 시퀀스를 중단합니다.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6400800" cy="41148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6035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4A5058"/>
                </a:solidFill>
                <a:latin typeface="Consolas"/>
              </a:defRPr>
            </a:pPr>
            <a:r>
              <a:t>// GameManager.cs — CheckBattleEnd()</a:t>
            </a:r>
            <a:br/>
            <a:r>
              <a:t>private bool CheckBattleEnd()</a:t>
            </a:r>
            <a:br/>
            <a:r>
              <a:t>{</a:t>
            </a:r>
            <a:br/>
            <a:r>
              <a:t>    playerUnits.RemoveAll(u =&gt; u == null || u.IsDead);</a:t>
            </a:r>
            <a:br/>
            <a:r>
              <a:t>    enemyUnits.RemoveAll(u =&gt; u == null || u.IsDead);</a:t>
            </a:r>
            <a:br/>
            <a:br/>
            <a:r>
              <a:t>    if (enemyUnits.Count == 0)</a:t>
            </a:r>
            <a:br/>
            <a:r>
              <a:t>    {</a:t>
            </a:r>
            <a:br/>
            <a:r>
              <a:t>        currentPhase = GamePhase.BattleResult;</a:t>
            </a:r>
            <a:br/>
            <a:r>
              <a:t>        resultMessage = gameTextData != null</a:t>
            </a:r>
            <a:br/>
            <a:r>
              <a:t>            ? gameTextData.victory : "승리!";</a:t>
            </a:r>
            <a:br/>
            <a:br/>
            <a:r>
              <a:t>        StageProgressManager.UnlockNextStage();</a:t>
            </a:r>
            <a:br/>
            <a:br/>
            <a:r>
              <a:t>        if (TurnBannerUI.Instance != null)</a:t>
            </a:r>
            <a:br/>
            <a:r>
              <a:t>            TurnBannerUI.Instance</a:t>
            </a:r>
            <a:br/>
            <a:r>
              <a:t>                .ShowVictory(resultMessage);</a:t>
            </a:r>
            <a:br/>
            <a:br/>
            <a:r>
              <a:t>        return true;</a:t>
            </a:r>
            <a:br/>
            <a:r>
              <a:t>    }</a:t>
            </a:r>
            <a:br/>
            <a:br/>
            <a:r>
              <a:t>    if (playerUnits.Count == 0)</a:t>
            </a:r>
            <a:br/>
            <a:r>
              <a:t>    {</a:t>
            </a:r>
            <a:br/>
            <a:r>
              <a:t>        currentPhase = GamePhase.BattleResult;</a:t>
            </a:r>
            <a:br/>
            <a:r>
              <a:t>        resultMessage = gameTextData != null</a:t>
            </a:r>
            <a:br/>
            <a:r>
              <a:t>            ? gameTextData.defeat : "패배...";</a:t>
            </a:r>
            <a:br/>
            <a:br/>
            <a:r>
              <a:t>        if (TurnBannerUI.Instance != null)</a:t>
            </a:r>
            <a:br/>
            <a:r>
              <a:t>            TurnBannerUI.Instance</a:t>
            </a:r>
            <a:br/>
            <a:r>
              <a:t>                .ShowDefeat(resultMessage);</a:t>
            </a:r>
            <a:br/>
            <a:br/>
            <a:r>
              <a:t>        return true;</a:t>
            </a:r>
            <a:br/>
            <a:r>
              <a:t>    }</a:t>
            </a:r>
            <a:br/>
            <a:r>
              <a:t>    return false;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011680"/>
            <a:ext cx="4114800" cy="118872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2D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210312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8659"/>
                </a:solidFill>
                <a:latin typeface="Consolas"/>
              </a:defRPr>
            </a:pPr>
            <a:r>
              <a:t>승리 흐름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7744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적 전멸 → BattleResult 페이즈 →</a:t>
            </a:r>
            <a:br/>
            <a:r>
              <a:t>UnlockNextStage()로 다음 스테이지 해금 →</a:t>
            </a:r>
            <a:br/>
            <a:r>
              <a:t>ShowVictory() 배너 출력.</a:t>
            </a:r>
            <a:br/>
            <a:r>
              <a:t>승리 메시지는 GameTextData SO에서 가져오되,</a:t>
            </a:r>
            <a:br/>
            <a:r>
              <a:t>없으면 "승리!" 기본값.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3474720"/>
            <a:ext cx="4114800" cy="9144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356616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53030"/>
                </a:solidFill>
                <a:latin typeface="Consolas"/>
              </a:defRPr>
            </a:pPr>
            <a:r>
              <a:t>패배 흐름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8404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아군 전멸 → BattleResult 페이즈 →</a:t>
            </a:r>
            <a:br/>
            <a:r>
              <a:t>ShowDefeat() 배너 출력.</a:t>
            </a:r>
            <a:br/>
            <a:r>
              <a:t>스테이지 해금은 발생하지 않습니다.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4663440"/>
            <a:ext cx="4114800" cy="10972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DF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754880"/>
            <a:ext cx="37490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929A"/>
                </a:solidFill>
                <a:latin typeface="Consolas"/>
              </a:defRPr>
            </a:pPr>
            <a:r>
              <a:t>호출 시점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0292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CheckBattleEnd()는 적 턴의 매 공격 직후와</a:t>
            </a:r>
            <a:br/>
            <a:r>
              <a:t>플레이어 공격 직후에 호출됩니다.</a:t>
            </a:r>
            <a:br/>
            <a:r>
              <a:t>yield break로 나머지 코루틴을 중단해</a:t>
            </a:r>
            <a:br/>
            <a:r>
              <a:t>전투 결과 이후 추가 행동이 발생하지 않습니다.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29A"/>
                </a:solidFill>
                <a:latin typeface="Consola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065C4"/>
                </a:solidFill>
                <a:latin typeface="Consolas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D21"/>
                </a:solidFill>
                <a:latin typeface="맑은 고딕"/>
              </a:defRPr>
            </a:pPr>
            <a:r>
              <a:t>네 파트를 관통하는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5058"/>
                </a:solidFill>
                <a:latin typeface="맑은 고딕"/>
              </a:defRPr>
            </a:pPr>
            <a:r>
              <a:t>"보이지 않던 것을 보이게 만든다"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468880" cy="22860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2D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8659"/>
                </a:solidFill>
                <a:latin typeface="Consolas"/>
              </a:defRPr>
            </a:pPr>
            <a:r>
              <a:t>04 카메라 연출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D21"/>
                </a:solidFill>
                <a:latin typeface="맑은 고딕"/>
              </a:defRPr>
            </a:pPr>
            <a:r>
              <a:t>고정 → 동적 포커스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턴마다 줌인하고, 건물을 자동 투명화해</a:t>
            </a:r>
            <a:br/>
            <a:r>
              <a:t>시야를 확보합니다.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920240"/>
            <a:ext cx="2468880" cy="22860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0116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53030"/>
                </a:solidFill>
                <a:latin typeface="Consolas"/>
              </a:defRPr>
            </a:pPr>
            <a:r>
              <a:t>05 적 이동 연출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D21"/>
                </a:solidFill>
                <a:latin typeface="맑은 고딕"/>
              </a:defRPr>
            </a:pPr>
            <a:r>
              <a:t>순간 이동 → 시퀀스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517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Bezier 화살표 + 타일 Lerp로</a:t>
            </a:r>
            <a:br/>
            <a:r>
              <a:t>읽히는 움직임을 만듭니다.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920240"/>
            <a:ext cx="2468880" cy="22860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0116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860B"/>
                </a:solidFill>
                <a:latin typeface="Consolas"/>
              </a:defRPr>
            </a:pPr>
            <a:r>
              <a:t>06 부대 &amp; 스프라이트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D21"/>
                </a:solidFill>
                <a:latin typeface="맑은 고딕"/>
              </a:defRPr>
            </a:pPr>
            <a:r>
              <a:t>큐브 → SO 비주얼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517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EnemySquadData로 구성하고,</a:t>
            </a:r>
            <a:br/>
            <a:r>
              <a:t>BattleSprite로 렌더합니다.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920240"/>
            <a:ext cx="2468880" cy="22860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2D86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8659"/>
                </a:solidFill>
                <a:latin typeface="Consolas"/>
              </a:defRPr>
            </a:pPr>
            <a:r>
              <a:t>07 승리 · 패배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D21"/>
                </a:solidFill>
                <a:latin typeface="맑은 고딕"/>
              </a:defRPr>
            </a:pPr>
            <a:r>
              <a:t>수동 → 자동 판정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6517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전투 종료를 자동 판정하고 결과 배너와</a:t>
            </a:r>
            <a:br/>
            <a:r>
              <a:t>해금을 처리합니다.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929A"/>
                </a:solidFill>
                <a:latin typeface="Consolas"/>
              </a:defRPr>
            </a:pPr>
            <a:r>
              <a:t>핵심 파일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892040"/>
            <a:ext cx="10515600" cy="12700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93775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D21"/>
                </a:solidFill>
                <a:latin typeface="Consolas"/>
              </a:defRPr>
            </a:pPr>
            <a:r>
              <a:t>Grid/CameraController.cs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937759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포커스 줌, 건물 페이드, 드래그, 2-finger 회전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212079"/>
            <a:ext cx="10515600" cy="12700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25779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D21"/>
                </a:solidFill>
                <a:latin typeface="Consolas"/>
              </a:defRPr>
            </a:pPr>
            <a:r>
              <a:t>UI/PathArrowRenderer.cs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257799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경로 화살표 시각화, Bezier 곡선, 슬라이드 애니메이션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532119"/>
            <a:ext cx="10515600" cy="12700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57783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D21"/>
                </a:solidFill>
                <a:latin typeface="Consolas"/>
              </a:defRPr>
            </a:pPr>
            <a:r>
              <a:t>GamePlay/Unit.cs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577839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MoveAlongPath 타일 Lerp 이동, 스프라이트 비주얼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852159"/>
            <a:ext cx="10515600" cy="12700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89787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D21"/>
                </a:solidFill>
                <a:latin typeface="Consolas"/>
              </a:defRPr>
            </a:pPr>
            <a:r>
              <a:t>Editor/EnemySpriteLinker.cs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897879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EnemyUnitData 스프라이트 자동 연결 도구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6172199"/>
            <a:ext cx="10515600" cy="12700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621791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D21"/>
                </a:solidFill>
                <a:latin typeface="Consolas"/>
              </a:defRPr>
            </a:pPr>
            <a:r>
              <a:t>SOdata/Enemy/Squads/*.asset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6217919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058"/>
                </a:solidFill>
                <a:latin typeface="맑은 고딕"/>
              </a:defRPr>
            </a:pPr>
            <a:r>
              <a:t>부대 구성 데이터 (멤버 유닛·수량·배치)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29A"/>
                </a:solidFill>
                <a:latin typeface="Consola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